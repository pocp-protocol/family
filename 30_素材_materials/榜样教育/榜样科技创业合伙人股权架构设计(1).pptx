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1365" cy="6858000" type="screen4x3"/>
  <p:notesSz cx="6858000" cy="9144000"/>
  <p:embeddedFontLst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FA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AABBFF"/>
                </a:solidFill>
                <a:latin typeface="Menlo" panose="020B0609030804020204"/>
              </a:defRPr>
            </a:pPr>
            <a:r>
              <a:t>榜样科技 · EQUITY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20040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AABBFF"/>
                </a:solidFill>
                <a:latin typeface="Menlo" panose="020B0609030804020204"/>
              </a:defRPr>
            </a:pPr>
            <a:r>
              <a:t>SS · 26.07.25 · 01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BCCFF"/>
                </a:solidFill>
                <a:latin typeface="Menlo" panose="020B0609030804020204"/>
              </a:defRPr>
            </a:pPr>
            <a:r>
              <a:t>EQUITY DESIGN · STARTUP PARTNER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058400" cy="20281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  <a:latin typeface="Helvetica Neue" panose="02000503000000020004"/>
              </a:rPr>
              <a:t>榜样科技</a:t>
            </a:r>
            <a:endParaRPr sz="4000" b="0">
              <a:solidFill>
                <a:srgbClr val="FFFFFF"/>
              </a:solidFill>
              <a:latin typeface="Helvetica Neue" panose="02000503000000020004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  <a:latin typeface="Helvetica Neue" panose="02000503000000020004"/>
              </a:rPr>
              <a:t>创业合伙人</a:t>
            </a:r>
            <a:endParaRPr sz="4000" b="0">
              <a:solidFill>
                <a:srgbClr val="FFFFFF"/>
              </a:solidFill>
              <a:latin typeface="Helvetica Neue" panose="02000503000000020004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  <a:latin typeface="Helvetica Neue" panose="02000503000000020004"/>
              </a:rPr>
              <a:t>股权</a:t>
            </a:r>
            <a:r>
              <a:rPr lang="zh-CN" sz="4000" b="0">
                <a:solidFill>
                  <a:srgbClr val="FFFFFF"/>
                </a:solidFill>
                <a:latin typeface="Helvetica Neue" panose="02000503000000020004"/>
              </a:rPr>
              <a:t>架构</a:t>
            </a:r>
            <a:r>
              <a:rPr sz="4000" b="0">
                <a:solidFill>
                  <a:srgbClr val="FFFFFF"/>
                </a:solidFill>
                <a:latin typeface="Helvetica Neue" panose="02000503000000020004"/>
              </a:rPr>
              <a:t>设计</a:t>
            </a:r>
            <a:endParaRPr sz="4000" b="0">
              <a:solidFill>
                <a:srgbClr val="FFFFFF"/>
              </a:solidFill>
              <a:latin typeface="Helvetica Neue" panose="020005030000000200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4754880"/>
            <a:ext cx="11064240" cy="12700"/>
          </a:xfrm>
          <a:prstGeom prst="rect">
            <a:avLst/>
          </a:prstGeom>
          <a:solidFill>
            <a:srgbClr val="33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7315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DDDDFF"/>
                </a:solidFill>
                <a:latin typeface="Helvetica Neue" panose="02000503000000020004"/>
              </a:defRPr>
            </a:pPr>
            <a:r>
              <a:t>用权益机制筛选、绑定和激励真正愿意长期创造价值的人——不是员工福利，是创业合伙人制度。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899CC"/>
                </a:solidFill>
                <a:latin typeface="Menlo" panose="020B0609030804020204"/>
              </a:defRPr>
            </a:pPr>
            <a:r>
              <a:t>V1.0 · 2026 · 榜样科技有限公司（拟）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17920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899CC"/>
                </a:solidFill>
                <a:latin typeface="Menlo" panose="020B0609030804020204"/>
              </a:defRPr>
            </a:pPr>
            <a:r>
              <a:t>→ swipe / arrow keys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77777"/>
                </a:solidFill>
                <a:latin typeface="Menlo" panose="020B0609030804020204"/>
              </a:defRPr>
            </a:pPr>
            <a:r>
              <a:t>CORE PHILOSOPHY ·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37373"/>
                </a:solidFill>
                <a:latin typeface="Menlo" panose="020B0609030804020204"/>
              </a:defRPr>
            </a:pPr>
            <a:r>
              <a:t>02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6666"/>
                </a:solidFill>
                <a:latin typeface="Menlo" panose="020B0609030804020204"/>
              </a:defRPr>
            </a:pPr>
            <a:r>
              <a:t>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47548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FFFFFF"/>
                </a:solidFill>
                <a:latin typeface="Helvetica Neue" panose="02000503000000020004"/>
              </a:rPr>
              <a:t>不是员工福利</a:t>
            </a:r>
            <a:endParaRPr sz="3200" b="0">
              <a:solidFill>
                <a:srgbClr val="FFFFFF"/>
              </a:solidFill>
              <a:latin typeface="Helvetica Neue" panose="02000503000000020004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FFFFFF"/>
                </a:solidFill>
                <a:latin typeface="Helvetica Neue" panose="02000503000000020004"/>
              </a:rPr>
              <a:t>是</a:t>
            </a:r>
            <a:r>
              <a:rPr sz="3200" b="0">
                <a:solidFill>
                  <a:srgbClr val="5B7BFF"/>
                </a:solidFill>
                <a:latin typeface="Helvetica Neue" panose="02000503000000020004"/>
              </a:rPr>
              <a:t>创业合伙人</a:t>
            </a:r>
            <a:r>
              <a:rPr sz="3200" b="0">
                <a:solidFill>
                  <a:srgbClr val="FFFFFF"/>
                </a:solidFill>
                <a:latin typeface="Helvetica Neue" panose="02000503000000020004"/>
              </a:rPr>
              <a:t>制度</a:t>
            </a:r>
            <a:endParaRPr sz="3200" b="0">
              <a:solidFill>
                <a:srgbClr val="FFFFFF"/>
              </a:solidFill>
              <a:latin typeface="Helvetica Neue" panose="020005030000000200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Menlo" panose="020B0609030804020204"/>
              </a:defRPr>
            </a:pPr>
            <a:r>
              <a:t>— 核心目的不是把股份分出去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3200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37373"/>
                </a:solidFill>
                <a:latin typeface="Menlo" panose="020B0609030804020204"/>
              </a:defRPr>
            </a:pPr>
            <a:r>
              <a:t>EXPLANATION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45920"/>
            <a:ext cx="5303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A0A0A"/>
                </a:solidFill>
                <a:latin typeface="Helvetica Neue" panose="02000503000000020004"/>
              </a:rPr>
              <a:t>用权益机制</a:t>
            </a:r>
            <a:r>
              <a:rPr sz="1600" b="1">
                <a:solidFill>
                  <a:srgbClr val="002FA7"/>
                </a:solidFill>
                <a:latin typeface="Helvetica Neue" panose="02000503000000020004"/>
              </a:rPr>
              <a:t>筛选</a:t>
            </a:r>
            <a:r>
              <a:rPr sz="1600" b="0">
                <a:solidFill>
                  <a:srgbClr val="0A0A0A"/>
                </a:solidFill>
                <a:latin typeface="Helvetica Neue" panose="02000503000000020004"/>
              </a:rPr>
              <a:t>、</a:t>
            </a:r>
            <a:r>
              <a:rPr sz="1600" b="1">
                <a:solidFill>
                  <a:srgbClr val="002FA7"/>
                </a:solidFill>
                <a:latin typeface="Helvetica Neue" panose="02000503000000020004"/>
              </a:rPr>
              <a:t>绑定</a:t>
            </a:r>
            <a:r>
              <a:rPr sz="1600" b="0">
                <a:solidFill>
                  <a:srgbClr val="0A0A0A"/>
                </a:solidFill>
                <a:latin typeface="Helvetica Neue" panose="02000503000000020004"/>
              </a:rPr>
              <a:t>和</a:t>
            </a:r>
            <a:r>
              <a:rPr sz="1600" b="1">
                <a:solidFill>
                  <a:srgbClr val="002FA7"/>
                </a:solidFill>
                <a:latin typeface="Helvetica Neue" panose="02000503000000020004"/>
              </a:rPr>
              <a:t>激励</a:t>
            </a:r>
            <a:r>
              <a:rPr sz="1600" b="0">
                <a:solidFill>
                  <a:srgbClr val="0A0A0A"/>
                </a:solidFill>
                <a:latin typeface="Helvetica Neue" panose="02000503000000020004"/>
              </a:rPr>
              <a:t>真正愿意长期创造价值的人。</a:t>
            </a:r>
            <a:endParaRPr sz="1600" b="0">
              <a:solidFill>
                <a:srgbClr val="0A0A0A"/>
              </a:solidFill>
              <a:latin typeface="Helvetica Neue" panose="020005030000000200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17920" y="3200400"/>
            <a:ext cx="53035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3383280"/>
            <a:ext cx="457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2FA7"/>
                </a:solidFill>
                <a:latin typeface="Menlo" panose="020B0609030804020204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383280"/>
            <a:ext cx="4572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5252"/>
                </a:solidFill>
                <a:latin typeface="Helvetica Neue" panose="02000503000000020004"/>
              </a:defRPr>
            </a:pPr>
            <a:r>
              <a:t>少数关键岗位进入创业合伙人层，通过较高权益绑定长期结果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4206240"/>
            <a:ext cx="457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2FA7"/>
                </a:solidFill>
                <a:latin typeface="Menlo" panose="020B0609030804020204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206240"/>
            <a:ext cx="4572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5252"/>
                </a:solidFill>
                <a:latin typeface="Helvetica Neue" panose="02000503000000020004"/>
              </a:defRPr>
            </a:pPr>
            <a:r>
              <a:t>多数核心骨干通过期权或虚拟权益获得长期激励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5029200"/>
            <a:ext cx="457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2FA7"/>
                </a:solidFill>
                <a:latin typeface="Menlo" panose="020B0609030804020204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5029200"/>
            <a:ext cx="4572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5252"/>
                </a:solidFill>
                <a:latin typeface="Helvetica Neue" panose="02000503000000020004"/>
              </a:defRPr>
            </a:pPr>
            <a:r>
              <a:t>所有权益采用4年成熟机制，与服务期限、岗位结果、价值观同时绑定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621792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37373"/>
                </a:solidFill>
                <a:latin typeface="Menlo" panose="020B0609030804020204"/>
              </a:defRPr>
            </a:pPr>
            <a:r>
              <a:t>→ 股权是筛选工具，不是福利分配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37373"/>
                </a:solidFill>
                <a:latin typeface="Menlo" panose="020B0609030804020204"/>
              </a:defRPr>
            </a:pPr>
            <a:r>
              <a:t>DESIGN PRINCIPLES ·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20040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37373"/>
                </a:solidFill>
                <a:latin typeface="Menlo" panose="020B0609030804020204"/>
              </a:defRPr>
            </a:pPr>
            <a:r>
              <a:t>03 / 14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097280" cy="254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0A0A0A"/>
                </a:solidFill>
                <a:latin typeface="Helvetica Neue" panose="02000503000000020004"/>
              </a:rPr>
              <a:t>股权设计</a:t>
            </a:r>
            <a:r>
              <a:rPr sz="3600" b="0">
                <a:solidFill>
                  <a:srgbClr val="002FA7"/>
                </a:solidFill>
                <a:latin typeface="Helvetica Neue" panose="02000503000000020004"/>
              </a:rPr>
              <a:t>四大</a:t>
            </a:r>
            <a:r>
              <a:rPr sz="3600" b="0">
                <a:solidFill>
                  <a:srgbClr val="0A0A0A"/>
                </a:solidFill>
                <a:latin typeface="Helvetica Neue" panose="02000503000000020004"/>
              </a:rPr>
              <a:t>原则</a:t>
            </a:r>
            <a:endParaRPr sz="3600" b="0">
              <a:solidFill>
                <a:srgbClr val="0A0A0A"/>
              </a:solidFill>
              <a:latin typeface="Helvetica Neue" panose="020005030000000200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3200400"/>
            <a:ext cx="2651760" cy="254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37373"/>
                </a:solidFill>
                <a:latin typeface="Menlo" panose="020B0609030804020204"/>
              </a:defRPr>
            </a:pPr>
            <a:r>
              <a:t>— 01 /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4904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0A0A0A"/>
                </a:solidFill>
                <a:latin typeface="Helvetica Neue" panose="02000503000000020004"/>
              </a:defRPr>
            </a:pPr>
            <a:r>
              <a:t>控制权优先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89120"/>
            <a:ext cx="26517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5252"/>
                </a:solidFill>
                <a:latin typeface="Helvetica Neue" panose="02000503000000020004"/>
              </a:defRPr>
            </a:pPr>
            <a:r>
              <a:t>创始人必须保持经营方向和重大事项控制力，通过持股平台、表决权安排和一致行动协议实现。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3200400"/>
            <a:ext cx="2651760" cy="254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338328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37373"/>
                </a:solidFill>
                <a:latin typeface="Menlo" panose="020B0609030804020204"/>
              </a:defRPr>
            </a:pPr>
            <a:r>
              <a:t>— 02 /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74904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0A0A0A"/>
                </a:solidFill>
                <a:latin typeface="Helvetica Neue" panose="02000503000000020004"/>
              </a:defRPr>
            </a:pPr>
            <a:r>
              <a:t>风险收益对等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4389120"/>
            <a:ext cx="26517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5252"/>
                </a:solidFill>
                <a:latin typeface="Helvetica Neue" panose="02000503000000020004"/>
              </a:defRPr>
            </a:pPr>
            <a:r>
              <a:t>越早承担创业风险，越应获得更低价格和更高权益。早鸟窗口、价格递增、Vesting 三重保障。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200400"/>
            <a:ext cx="2651760" cy="254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338328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37373"/>
                </a:solidFill>
                <a:latin typeface="Menlo" panose="020B0609030804020204"/>
              </a:defRPr>
            </a:pPr>
            <a:r>
              <a:t>— 03 / CONTRIBUTION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74904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0A0A0A"/>
                </a:solidFill>
                <a:latin typeface="Helvetica Neue" panose="02000503000000020004"/>
              </a:defRPr>
            </a:pPr>
            <a:r>
              <a:t>贡献决定增量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389120"/>
            <a:ext cx="26517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5252"/>
                </a:solidFill>
                <a:latin typeface="Helvetica Neue" panose="02000503000000020004"/>
              </a:defRPr>
            </a:pPr>
            <a:r>
              <a:t>股权不是入职礼包，而是未来贡献的长期合约。年度评估、业绩触发、动态激励池三位一体。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3200400"/>
            <a:ext cx="2651760" cy="254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338328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37373"/>
                </a:solidFill>
                <a:latin typeface="Menlo" panose="020B0609030804020204"/>
              </a:defRPr>
            </a:pPr>
            <a:r>
              <a:t>— 04 / LAYERED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4904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002FA7"/>
                </a:solidFill>
                <a:latin typeface="Helvetica Neue" panose="02000503000000020004"/>
              </a:defRPr>
            </a:pPr>
            <a:r>
              <a:t>分层激励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4389120"/>
            <a:ext cx="26517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5252"/>
                </a:solidFill>
                <a:latin typeface="Helvetica Neue" panose="02000503000000020004"/>
              </a:defRPr>
            </a:pPr>
            <a:r>
              <a:t>不同人才用不同工具，不把所有人都变成股东。股份、期权、虚拟股、奖金分开使用，治理简洁。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99999"/>
                </a:solidFill>
                <a:latin typeface="Menlo" panose="020B0609030804020204"/>
              </a:defRPr>
            </a:pPr>
            <a: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99999"/>
                </a:solidFill>
                <a:latin typeface="Menlo" panose="020B0609030804020204"/>
              </a:defRPr>
            </a:pPr>
            <a:r>
              <a:t>EQUITY ARCHITECTURE ·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20040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99999"/>
                </a:solidFill>
                <a:latin typeface="Menlo" panose="020B0609030804020204"/>
              </a:defRPr>
            </a:pPr>
            <a:r>
              <a:t>04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6666"/>
                </a:solidFill>
                <a:latin typeface="Menlo" panose="020B0609030804020204"/>
              </a:defRPr>
            </a:pPr>
            <a:r>
              <a:t>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8115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600" b="0">
                <a:solidFill>
                  <a:srgbClr val="5B7BFF"/>
                </a:solidFill>
                <a:latin typeface="Helvetica Neue" panose="02000503000000020004"/>
              </a:rPr>
              <a:t>（计划）</a:t>
            </a:r>
            <a:r>
              <a:rPr sz="3600" b="0">
                <a:solidFill>
                  <a:srgbClr val="5B7BFF"/>
                </a:solidFill>
                <a:latin typeface="Helvetica Neue" panose="02000503000000020004"/>
              </a:rPr>
              <a:t>股权架构</a:t>
            </a:r>
            <a:endParaRPr sz="3600" b="0">
              <a:solidFill>
                <a:srgbClr val="5B7BFF"/>
              </a:solidFill>
              <a:latin typeface="Helvetica Neue" panose="020005030000000200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99999"/>
                </a:solidFill>
                <a:latin typeface="Helvetica Neue" panose="02000503000000020004"/>
              </a:defRPr>
            </a:pPr>
            <a:r>
              <a:t>控制权稳定、人才有预期、融资有空间——从第一天起就设计好。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3566160" cy="292608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enlo" panose="020B0609030804020204"/>
              </a:defRPr>
            </a:pPr>
            <a:r>
              <a:t>LAYER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404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Helvetica Neue" panose="02000503000000020004"/>
              </a:defRPr>
            </a:pPr>
            <a:r>
              <a:t>创始团队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Helvetica Neue" panose="02000503000000020004"/>
              </a:defRPr>
            </a:pPr>
            <a:r>
              <a:t>60%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2920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Helvetica Neue" panose="02000503000000020004"/>
              </a:defRPr>
            </a:pPr>
            <a:r>
              <a:t>保持公司战略、业务和融资节奏控制权。通过持股平台和表决权安排保护控制力。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76072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FFFFFF"/>
                </a:solidFill>
                <a:latin typeface="Menlo" panose="020B0609030804020204"/>
              </a:defRPr>
            </a:pPr>
            <a:r>
              <a:t>CONTROL · STRATEGY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3200400"/>
            <a:ext cx="3566160" cy="292608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38328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37373"/>
                </a:solidFill>
                <a:latin typeface="Menlo" panose="020B0609030804020204"/>
              </a:defRPr>
            </a:pPr>
            <a:r>
              <a:t>LAYER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8404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0A0A0A"/>
                </a:solidFill>
                <a:latin typeface="Helvetica Neue" panose="02000503000000020004"/>
              </a:defRPr>
            </a:pPr>
            <a:r>
              <a:t>人才激励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0A0A0A"/>
                </a:solidFill>
                <a:latin typeface="Helvetica Neue" panose="02000503000000020004"/>
              </a:defRPr>
            </a:pPr>
            <a:r>
              <a:t>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502920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A0A0A"/>
                </a:solidFill>
                <a:latin typeface="Helvetica Neue" panose="02000503000000020004"/>
              </a:defRPr>
            </a:pPr>
            <a:r>
              <a:t>创业合伙人池 10% + 员工期权池 10%。用于关键合伙人和核心骨干，按年度贡献授予。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76072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737373"/>
                </a:solidFill>
                <a:latin typeface="Menlo" panose="020B0609030804020204"/>
              </a:defRPr>
            </a:pPr>
            <a:r>
              <a:t>PARTNER · OPTION POOL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3200400"/>
            <a:ext cx="3566160" cy="292608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338328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enlo" panose="020B0609030804020204"/>
              </a:defRPr>
            </a:pPr>
            <a:r>
              <a:t>LAYER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8404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Helvetica Neue" panose="02000503000000020004"/>
              </a:defRPr>
            </a:pPr>
            <a:r>
              <a:t>资产与融资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Helvetica Neue" panose="02000503000000020004"/>
              </a:defRPr>
            </a:pPr>
            <a:r>
              <a:t>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502920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Helvetica Neue" panose="02000503000000020004"/>
              </a:defRPr>
            </a:pPr>
            <a:r>
              <a:t>教育业务资产注入 10% + 未来融资预留 10%。融资通过增资扩股形成，所有股东按比例稀释。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576072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FFFFFF"/>
                </a:solidFill>
                <a:latin typeface="Menlo" panose="020B0609030804020204"/>
              </a:defRPr>
            </a:pPr>
            <a:r>
              <a:t>ASSET · FUNDING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88888"/>
                </a:solidFill>
                <a:latin typeface="Menlo" panose="020B0609030804020204"/>
              </a:defRPr>
            </a:pPr>
            <a: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37373"/>
                </a:solidFill>
                <a:latin typeface="Menlo" panose="020B0609030804020204"/>
              </a:defRPr>
            </a:pPr>
            <a:r>
              <a:t>TALENT MODELS ·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20040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37373"/>
                </a:solidFill>
                <a:latin typeface="Menlo" panose="020B0609030804020204"/>
              </a:defRPr>
            </a:pPr>
            <a:r>
              <a:t>05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37373"/>
                </a:solidFill>
                <a:latin typeface="Menlo" panose="020B0609030804020204"/>
              </a:defRPr>
            </a:pPr>
            <a:r>
              <a:t>COLLABORATION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0A0A0A"/>
                </a:solidFill>
                <a:latin typeface="Helvetica Neue" panose="02000503000000020004"/>
              </a:rPr>
              <a:t>人才合作</a:t>
            </a:r>
            <a:r>
              <a:rPr sz="3600" b="0">
                <a:solidFill>
                  <a:srgbClr val="002FA7"/>
                </a:solidFill>
                <a:latin typeface="Helvetica Neue" panose="02000503000000020004"/>
              </a:rPr>
              <a:t>双轨</a:t>
            </a:r>
            <a:endParaRPr sz="3600" b="0">
              <a:solidFill>
                <a:srgbClr val="002FA7"/>
              </a:solidFill>
              <a:latin typeface="Helvetica Neue" panose="020005030000000200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2926080"/>
            <a:ext cx="5303520" cy="254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0A0A0A"/>
                </a:solidFill>
                <a:latin typeface="Helvetica Neue" panose="02000503000000020004"/>
              </a:defRPr>
            </a:pPr>
            <a: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2461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37373"/>
                </a:solidFill>
                <a:latin typeface="Menlo" panose="020B0609030804020204"/>
              </a:defRPr>
            </a:pPr>
            <a:r>
              <a:t>CASH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4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0A0A0A"/>
                </a:solidFill>
                <a:latin typeface="Helvetica Neue" panose="02000503000000020004"/>
              </a:defRPr>
            </a:pPr>
            <a:r>
              <a:t>职业经理人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89120"/>
            <a:ext cx="5303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5252"/>
                </a:solidFill>
                <a:latin typeface="Helvetica Neue" panose="02000503000000020004"/>
              </a:defRPr>
            </a:pPr>
            <a:r>
              <a:t>100% 市场薪酬，无权益安排。追求稳定现金流，公司按职业经理人标准管理和考核。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48640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5252"/>
                </a:solidFill>
                <a:latin typeface="Helvetica Neue" panose="02000503000000020004"/>
              </a:defRPr>
            </a:pPr>
            <a:r>
              <a:t>·  适合：家庭压力较大或短期加入者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59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5252"/>
                </a:solidFill>
                <a:latin typeface="Helvetica Neue" panose="02000503000000020004"/>
              </a:defRPr>
            </a:pPr>
            <a:r>
              <a:t>·  激励工具：现金薪酬 + 绩效奖金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17919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5252"/>
                </a:solidFill>
                <a:latin typeface="Helvetica Neue" panose="02000503000000020004"/>
              </a:defRPr>
            </a:pPr>
            <a:r>
              <a:t>·  风险承担：无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8368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5252"/>
                </a:solidFill>
                <a:latin typeface="Helvetica Neue" panose="02000503000000020004"/>
              </a:defRPr>
            </a:pPr>
            <a:r>
              <a:t>·  权益获得：无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2926080"/>
            <a:ext cx="12700" cy="3200400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926080"/>
            <a:ext cx="5303520" cy="254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32004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002FA7"/>
                </a:solidFill>
                <a:latin typeface="Helvetica Neue" panose="02000503000000020004"/>
              </a:defRPr>
            </a:pPr>
            <a: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2461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02FA7"/>
                </a:solidFill>
                <a:latin typeface="Menlo" panose="020B0609030804020204"/>
              </a:defRPr>
            </a:pPr>
            <a:r>
              <a:t>STARTUP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74904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002FA7"/>
                </a:solidFill>
                <a:latin typeface="Helvetica Neue" panose="02000503000000020004"/>
              </a:defRPr>
            </a:pPr>
            <a:r>
              <a:t>创业合伙人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389120"/>
            <a:ext cx="5303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5252"/>
                </a:solidFill>
                <a:latin typeface="Helvetica Neue" panose="02000503000000020004"/>
              </a:defRPr>
            </a:pPr>
            <a:r>
              <a:t>约 50%-60% 市场薪酬 + 股份/期权组合。共担风险、共担经营结果，纳入创业合伙人计划。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548640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5252"/>
                </a:solidFill>
                <a:latin typeface="Helvetica Neue" panose="02000503000000020004"/>
              </a:defRPr>
            </a:pPr>
            <a:r>
              <a:t>·  适合：关键岗位、愿意共担风险者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5852159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5252"/>
                </a:solidFill>
                <a:latin typeface="Helvetica Neue" panose="02000503000000020004"/>
              </a:defRPr>
            </a:pPr>
            <a:r>
              <a:t>·  激励工具：股份 + 期权组合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6217919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5252"/>
                </a:solidFill>
                <a:latin typeface="Helvetica Neue" panose="02000503000000020004"/>
              </a:defRPr>
            </a:pPr>
            <a:r>
              <a:t>·  风险承担：降薪 40%-50%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658368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5252"/>
                </a:solidFill>
                <a:latin typeface="Helvetica Neue" panose="02000503000000020004"/>
              </a:defRPr>
            </a:pPr>
            <a:r>
              <a:t>·  权益获得：须绑定关键里程碑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99999"/>
                </a:solidFill>
                <a:latin typeface="Menlo" panose="020B0609030804020204"/>
              </a:defRPr>
            </a:pPr>
            <a: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99999"/>
                </a:solidFill>
                <a:latin typeface="Menlo" panose="020B0609030804020204"/>
              </a:defRPr>
            </a:pPr>
            <a:r>
              <a:t>THREE MODELS ·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20040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99999"/>
                </a:solidFill>
                <a:latin typeface="Menlo" panose="020B0609030804020204"/>
              </a:defRPr>
            </a:pPr>
            <a:r>
              <a:t>06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6666"/>
                </a:solidFill>
                <a:latin typeface="Menlo" panose="020B0609030804020204"/>
              </a:defRPr>
            </a:pPr>
            <a:r>
              <a:t>A / B /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FFFFFF"/>
                </a:solidFill>
                <a:latin typeface="Helvetica Neue" panose="02000503000000020004"/>
              </a:rPr>
              <a:t>三方案</a:t>
            </a:r>
            <a:r>
              <a:rPr sz="3200" b="0">
                <a:solidFill>
                  <a:srgbClr val="5B7BFF"/>
                </a:solidFill>
                <a:latin typeface="Helvetica Neue" panose="02000503000000020004"/>
              </a:rPr>
              <a:t>深化</a:t>
            </a:r>
            <a:r>
              <a:rPr sz="3200" b="0">
                <a:solidFill>
                  <a:srgbClr val="FFFFFF"/>
                </a:solidFill>
                <a:latin typeface="Helvetica Neue" panose="02000503000000020004"/>
              </a:rPr>
              <a:t>对比</a:t>
            </a:r>
            <a:endParaRPr sz="3200" b="0">
              <a:solidFill>
                <a:srgbClr val="FFFFFF"/>
              </a:solidFill>
              <a:latin typeface="Helvetica Neue" panose="020005030000000200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2743200"/>
            <a:ext cx="3657600" cy="347472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6666"/>
                </a:solidFill>
                <a:latin typeface="Menlo" panose="020B0609030804020204"/>
              </a:defRPr>
            </a:pPr>
            <a:r>
              <a:t>FORMULA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DDDDDD"/>
                </a:solidFill>
                <a:latin typeface="Helvetica Neue" panose="02000503000000020004"/>
              </a:defRPr>
            </a:pPr>
            <a:r>
              <a:t>权益价值 =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1480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Helvetica Neue" panose="02000503000000020004"/>
              </a:defRPr>
            </a:pPr>
            <a:r>
              <a:t>放弃现金 × 创业系数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846320"/>
            <a:ext cx="3108960" cy="127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0292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Menlo" panose="020B0609030804020204"/>
              </a:defRPr>
            </a:pPr>
            <a:r>
              <a:t>A: 系数 1 · 不兑换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39496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Menlo" panose="020B0609030804020204"/>
              </a:defRPr>
            </a:pPr>
            <a:r>
              <a:t>B: 系数 3 · 期权/虚拟股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7607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B7BFF"/>
                </a:solidFill>
                <a:latin typeface="Menlo" panose="020B0609030804020204"/>
              </a:defRPr>
            </a:pPr>
            <a:r>
              <a:t>C: 系数 5 · 创业合伙人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743200"/>
            <a:ext cx="7040880" cy="105156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880360"/>
            <a:ext cx="914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0A0A0A"/>
                </a:solidFill>
                <a:latin typeface="Helvetica Neue" panose="02000503000000020004"/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9260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37373"/>
                </a:solidFill>
                <a:latin typeface="Menlo" panose="020B0609030804020204"/>
              </a:defRPr>
            </a:pPr>
            <a:r>
              <a:t>A · CASH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004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A0A0A"/>
                </a:solidFill>
                <a:latin typeface="Helvetica Neue" panose="02000503000000020004"/>
              </a:defRPr>
            </a:pPr>
            <a:r>
              <a:t>职业经理人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880360"/>
            <a:ext cx="29260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A0A0A"/>
                </a:solidFill>
                <a:latin typeface="Helvetica Neue" panose="02000503000000020004"/>
              </a:defRPr>
            </a:pPr>
            <a:r>
              <a:t>100% 薪酬，无权益。公司不是单方面决定人才"值多少钱"，而是让人才根据风险偏好选择。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3931920"/>
            <a:ext cx="7040880" cy="105156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4069080"/>
            <a:ext cx="914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0A0A0A"/>
                </a:solidFill>
                <a:latin typeface="Helvetica Neue" panose="02000503000000020004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1148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37373"/>
                </a:solidFill>
                <a:latin typeface="Menlo" panose="020B0609030804020204"/>
              </a:defRPr>
            </a:pPr>
            <a:r>
              <a:t>B · GROWTH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3891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A0A0A"/>
                </a:solidFill>
                <a:latin typeface="Helvetica Neue" panose="02000503000000020004"/>
              </a:defRPr>
            </a:pPr>
            <a:r>
              <a:t>事业伙伴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069080"/>
            <a:ext cx="29260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A0A0A"/>
                </a:solidFill>
                <a:latin typeface="Helvetica Neue" panose="02000503000000020004"/>
              </a:defRPr>
            </a:pPr>
            <a:r>
              <a:t>约 80% 薪酬 + 期权/虚拟股。认可公司方向，愿意长期参与但不承担过高风险。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5120640"/>
            <a:ext cx="7040880" cy="105156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5257800"/>
            <a:ext cx="914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FFFFFF"/>
                </a:solidFill>
                <a:latin typeface="Helvetica Neue" panose="02000503000000020004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530352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BBCCFF"/>
                </a:solidFill>
                <a:latin typeface="Menlo" panose="020B0609030804020204"/>
              </a:defRPr>
            </a:pPr>
            <a:r>
              <a:t>C · STARTUP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55778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Helvetica Neue" panose="02000503000000020004"/>
              </a:defRPr>
            </a:pPr>
            <a:r>
              <a:t>创业合伙人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257800"/>
            <a:ext cx="29260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Helvetica Neue" panose="02000503000000020004"/>
              </a:defRPr>
            </a:pPr>
            <a:r>
              <a:t>约 50%-60% 薪酬 + 股份/期权组合。极少数关键岗位，高风险高收益，绑定长期经营结果。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88888"/>
                </a:solidFill>
                <a:latin typeface="Menlo" panose="020B0609030804020204"/>
              </a:defRPr>
            </a:pPr>
            <a: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37373"/>
                </a:solidFill>
                <a:latin typeface="Menlo" panose="020B0609030804020204"/>
              </a:defRPr>
            </a:pPr>
            <a:r>
              <a:t>MECHANISM ·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45720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37373"/>
                </a:solidFill>
                <a:latin typeface="Menlo" panose="020B0609030804020204"/>
              </a:defRPr>
            </a:pPr>
            <a:r>
              <a:t>07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37373"/>
                </a:solidFill>
                <a:latin typeface="Menlo" panose="020B0609030804020204"/>
              </a:defRPr>
            </a:pPr>
            <a:r>
              <a:t>SIX KEY MECHANISMS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0A0A0A"/>
                </a:solidFill>
                <a:latin typeface="Helvetica Neue" panose="02000503000000020004"/>
              </a:rPr>
              <a:t>权益机制</a:t>
            </a:r>
            <a:r>
              <a:rPr sz="3600" b="0">
                <a:solidFill>
                  <a:srgbClr val="002FA7"/>
                </a:solidFill>
                <a:latin typeface="Helvetica Neue" panose="02000503000000020004"/>
              </a:rPr>
              <a:t>六要素</a:t>
            </a:r>
            <a:endParaRPr sz="3600" b="0">
              <a:solidFill>
                <a:srgbClr val="002FA7"/>
              </a:solidFill>
              <a:latin typeface="Helvetica Neue" panose="020005030000000200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2651760"/>
            <a:ext cx="3566160" cy="19202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37373"/>
                </a:solidFill>
                <a:latin typeface="Menlo" panose="020B0609030804020204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A0A0A"/>
                </a:solidFill>
                <a:latin typeface="Helvetica Neue" panose="02000503000000020004"/>
              </a:defRPr>
            </a:pPr>
            <a:r>
              <a:t>权益换算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5252"/>
                </a:solidFill>
                <a:latin typeface="Helvetica Neue" panose="02000503000000020004"/>
              </a:defRPr>
            </a:pPr>
            <a:r>
              <a:t>放弃现金 × 创业系数 = 权益价值。统一公式避免每个岗位单独谈判。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651760"/>
            <a:ext cx="3566160" cy="19202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8346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37373"/>
                </a:solidFill>
                <a:latin typeface="Menlo" panose="020B0609030804020204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1546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A0A0A"/>
                </a:solidFill>
                <a:latin typeface="Helvetica Neue" panose="02000503000000020004"/>
              </a:defRPr>
            </a:pPr>
            <a:r>
              <a:t>动态选择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65760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5252"/>
                </a:solidFill>
                <a:latin typeface="Helvetica Neue" panose="02000503000000020004"/>
              </a:defRPr>
            </a:pPr>
            <a:r>
              <a:t>允许先选现金后转期权。3 个月选择期享受创始价格，12 个月后按新估值。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651760"/>
            <a:ext cx="3566160" cy="19202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8346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37373"/>
                </a:solidFill>
                <a:latin typeface="Menlo" panose="020B0609030804020204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1546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A0A0A"/>
                </a:solidFill>
                <a:latin typeface="Helvetica Neue" panose="02000503000000020004"/>
              </a:defRPr>
            </a:pPr>
            <a:r>
              <a:t>4 年成熟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65760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5252"/>
                </a:solidFill>
                <a:latin typeface="Helvetica Neue" panose="02000503000000020004"/>
              </a:defRPr>
            </a:pPr>
            <a:r>
              <a:t>Vesting 机制：1 年悬崖期 + 逐年成熟。时间与业绩双条件触发。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754880"/>
            <a:ext cx="3566160" cy="19202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9377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37373"/>
                </a:solidFill>
                <a:latin typeface="Menlo" panose="020B0609030804020204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25780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A0A0A"/>
                </a:solidFill>
                <a:latin typeface="Helvetica Neue" panose="02000503000000020004"/>
              </a:defRPr>
            </a:pPr>
            <a:r>
              <a:t>持股平台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76072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5252"/>
                </a:solidFill>
                <a:latin typeface="Helvetica Neue" panose="02000503000000020004"/>
              </a:defRPr>
            </a:pPr>
            <a:r>
              <a:t>有限合伙企业承接权益，GP 集中表决权。员工不直接工商登记。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4754880"/>
            <a:ext cx="3566160" cy="19202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49377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37373"/>
                </a:solidFill>
                <a:latin typeface="Menlo" panose="020B0609030804020204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25780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A0A0A"/>
                </a:solidFill>
                <a:latin typeface="Helvetica Neue" panose="02000503000000020004"/>
              </a:defRPr>
            </a:pPr>
            <a:r>
              <a:t>控制权保护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76072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5252"/>
                </a:solidFill>
                <a:latin typeface="Helvetica Neue" panose="02000503000000020004"/>
              </a:defRPr>
            </a:pPr>
            <a:r>
              <a:t>表决权委托 + 一致行动协议 + 章程特别约定。经济收益 ≠ 决策权。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4754880"/>
            <a:ext cx="3566160" cy="192024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49377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BCCFF"/>
                </a:solidFill>
                <a:latin typeface="Menlo" panose="020B0609030804020204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525780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Helvetica Neue" panose="02000503000000020004"/>
              </a:defRPr>
            </a:pPr>
            <a:r>
              <a:t>退出回购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76072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DDDFF"/>
                </a:solidFill>
                <a:latin typeface="Helvetica Neue" panose="02000503000000020004"/>
              </a:defRPr>
            </a:pPr>
            <a:r>
              <a:t>Good/Bad Leaver 区分。正常离职可保留或约定回购，过错离职全部失效。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99999"/>
                </a:solidFill>
                <a:latin typeface="Menlo" panose="020B0609030804020204"/>
              </a:defRPr>
            </a:pPr>
            <a:r>
              <a:t>VESTING SCHEDULE ·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20040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99999"/>
                </a:solidFill>
                <a:latin typeface="Menlo" panose="020B0609030804020204"/>
              </a:defRPr>
            </a:pPr>
            <a:r>
              <a:t>08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6666"/>
                </a:solidFill>
                <a:latin typeface="Menlo" panose="020B0609030804020204"/>
              </a:defRPr>
            </a:pPr>
            <a:r>
              <a:t>4-YEAR VESTING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5B7BFF"/>
                </a:solidFill>
                <a:latin typeface="Helvetica Neue" panose="02000503000000020004"/>
              </a:rPr>
              <a:t>4年</a:t>
            </a:r>
            <a:r>
              <a:rPr sz="3600" b="0">
                <a:solidFill>
                  <a:srgbClr val="FFFFFF"/>
                </a:solidFill>
                <a:latin typeface="Helvetica Neue" panose="02000503000000020004"/>
              </a:rPr>
              <a:t>成熟机制</a:t>
            </a:r>
            <a:endParaRPr sz="3600" b="0">
              <a:solidFill>
                <a:srgbClr val="FFFFFF"/>
              </a:solidFill>
              <a:latin typeface="Helvetica Neue" panose="020005030000000200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99999"/>
                </a:solidFill>
                <a:latin typeface="Helvetica Neue" panose="02000503000000020004"/>
              </a:defRPr>
            </a:pPr>
            <a:r>
              <a:t>所有权益均采用 4 年成熟机制，避免"人走股留"或"刚入职即获得完整股权"的风险。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389120"/>
            <a:ext cx="9418320" cy="254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25880" y="4343400"/>
            <a:ext cx="182880" cy="182880"/>
          </a:xfrm>
          <a:prstGeom prst="rect">
            <a:avLst/>
          </a:prstGeom>
          <a:solidFill>
            <a:srgbClr val="5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5B7BFF"/>
                </a:solidFill>
                <a:latin typeface="Menlo" panose="020B0609030804020204"/>
              </a:defRPr>
            </a:pPr>
            <a:r>
              <a:t>MONTH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5B7BFF"/>
                </a:solidFill>
                <a:latin typeface="Helvetica Neue" panose="02000503000000020004"/>
              </a:defRPr>
            </a:pPr>
            <a:r>
              <a:t>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88888"/>
                </a:solidFill>
                <a:latin typeface="Helvetica Neue" panose="02000503000000020004"/>
              </a:defRPr>
            </a:pPr>
            <a:r>
              <a:t>1 年悬崖期</a:t>
            </a: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88888"/>
                </a:solidFill>
                <a:latin typeface="Helvetica Neue" panose="02000503000000020004"/>
              </a:defRPr>
            </a:pPr>
            <a:r>
              <a:t>未满一年离职不成熟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62272" y="4343400"/>
            <a:ext cx="182880" cy="1828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76472" y="466344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88888"/>
                </a:solidFill>
                <a:latin typeface="Helvetica Neue" panose="02000503000000020004"/>
              </a:defRPr>
            </a:pPr>
            <a:r>
              <a:t>继续服务</a:t>
            </a: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88888"/>
                </a:solidFill>
                <a:latin typeface="Helvetica Neue" panose="02000503000000020004"/>
              </a:defRPr>
            </a:pPr>
            <a:r>
              <a:t>完成年度目标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521208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FFFFFF"/>
                </a:solidFill>
                <a:latin typeface="Helvetica Neue" panose="02000503000000020004"/>
              </a:defRPr>
            </a:pPr>
            <a:r>
              <a:t>50%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0792" y="58521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99999"/>
                </a:solidFill>
                <a:latin typeface="Menlo" panose="020B0609030804020204"/>
              </a:defRPr>
            </a:pPr>
            <a:r>
              <a:t>MONTH 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98663" y="4343400"/>
            <a:ext cx="182880" cy="1828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87183" y="31089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99999"/>
                </a:solidFill>
                <a:latin typeface="Menlo" panose="020B0609030804020204"/>
              </a:defRPr>
            </a:pPr>
            <a:r>
              <a:t>MONTH 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87183" y="338328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FFFFFF"/>
                </a:solidFill>
                <a:latin typeface="Helvetica Neue" panose="02000503000000020004"/>
              </a:defRPr>
            </a:pPr>
            <a:r>
              <a:t>75%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12863" y="39319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88888"/>
                </a:solidFill>
                <a:latin typeface="Helvetica Neue" panose="02000503000000020004"/>
              </a:defRPr>
            </a:pPr>
            <a:r>
              <a:t>完成关键岗位目标</a:t>
            </a: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88888"/>
                </a:solidFill>
                <a:latin typeface="Helvetica Neue" panose="02000503000000020004"/>
              </a:defRPr>
            </a:pPr>
            <a:r>
              <a:t>可参与追加授予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735056" y="4343400"/>
            <a:ext cx="182880" cy="182880"/>
          </a:xfrm>
          <a:prstGeom prst="rect">
            <a:avLst/>
          </a:prstGeom>
          <a:solidFill>
            <a:srgbClr val="5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49256" y="466344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88888"/>
                </a:solidFill>
                <a:latin typeface="Helvetica Neue" panose="02000503000000020004"/>
              </a:defRPr>
            </a:pPr>
            <a:r>
              <a:t>全部成熟</a:t>
            </a: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88888"/>
                </a:solidFill>
                <a:latin typeface="Helvetica Neue" panose="02000503000000020004"/>
              </a:defRPr>
            </a:pPr>
            <a:r>
              <a:t>仍受保密、竞业、回购约束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23576" y="521208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FFFFFF"/>
                </a:solidFill>
                <a:latin typeface="Helvetica Neue" panose="02000503000000020004"/>
              </a:defRPr>
            </a:pPr>
            <a: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23576" y="58521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99999"/>
                </a:solidFill>
                <a:latin typeface="Menlo" panose="020B0609030804020204"/>
              </a:defRPr>
            </a:pPr>
            <a:r>
              <a:t>MONTH 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88888"/>
                </a:solidFill>
                <a:latin typeface="Menlo" panose="020B0609030804020204"/>
              </a:defRPr>
            </a:pPr>
            <a: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37373"/>
                </a:solidFill>
                <a:latin typeface="Menlo" panose="020B0609030804020204"/>
              </a:defRPr>
            </a:pPr>
            <a:r>
              <a:t>PLATFORM ·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20040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37373"/>
                </a:solidFill>
                <a:latin typeface="Menlo" panose="020B0609030804020204"/>
              </a:defRPr>
            </a:pPr>
            <a:r>
              <a:t>09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37373"/>
                </a:solidFill>
                <a:latin typeface="Menlo" panose="020B0609030804020204"/>
              </a:defRPr>
            </a:pPr>
            <a:r>
              <a:t>SHAREHOLDING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0A0A0A"/>
                </a:solidFill>
                <a:latin typeface="Helvetica Neue" panose="02000503000000020004"/>
              </a:rPr>
              <a:t>持股平台</a:t>
            </a:r>
            <a:r>
              <a:rPr sz="3600" b="0">
                <a:solidFill>
                  <a:srgbClr val="002FA7"/>
                </a:solidFill>
                <a:latin typeface="Helvetica Neue" panose="02000503000000020004"/>
              </a:rPr>
              <a:t>架构</a:t>
            </a:r>
            <a:endParaRPr sz="3600" b="0">
              <a:solidFill>
                <a:srgbClr val="002FA7"/>
              </a:solidFill>
              <a:latin typeface="Helvetica Neue" panose="02000503000000020004"/>
            </a:endParaRPr>
          </a:p>
        </p:txBody>
      </p:sp>
      <p:sp>
        <p:nvSpPr>
          <p:cNvPr id="6" name="Oval 5"/>
          <p:cNvSpPr/>
          <p:nvPr/>
        </p:nvSpPr>
        <p:spPr>
          <a:xfrm>
            <a:off x="1554480" y="2743200"/>
            <a:ext cx="3291840" cy="3291840"/>
          </a:xfrm>
          <a:prstGeom prst="ellipse">
            <a:avLst/>
          </a:prstGeom>
          <a:noFill/>
          <a:ln w="12700">
            <a:solidFill>
              <a:srgbClr val="D4D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103120" y="3291840"/>
            <a:ext cx="2194560" cy="2194560"/>
          </a:xfrm>
          <a:prstGeom prst="ellipse">
            <a:avLst/>
          </a:prstGeom>
          <a:noFill/>
          <a:ln w="190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51760" y="3840480"/>
            <a:ext cx="1097280" cy="1097280"/>
          </a:xfrm>
          <a:prstGeom prst="ellipse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4206240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Helvetica Neue" panose="02000503000000020004"/>
              </a:defRPr>
            </a:pPr>
            <a:r>
              <a:t>GP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926080"/>
            <a:ext cx="164592" cy="16459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2880360"/>
            <a:ext cx="5669280" cy="127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01752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2FA7"/>
                </a:solidFill>
                <a:latin typeface="Menlo" panose="020B0609030804020204"/>
              </a:defRPr>
            </a:pPr>
            <a:r>
              <a:t>CORE · 创始团队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337560"/>
            <a:ext cx="5303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5252"/>
                </a:solidFill>
                <a:latin typeface="Helvetica Neue" panose="02000503000000020004"/>
              </a:defRPr>
            </a:pPr>
            <a:r>
              <a:t>通过 GP 身份控制持股平台，集中表决权，保持经营决策权。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4206240"/>
            <a:ext cx="164592" cy="16459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4160520"/>
            <a:ext cx="56692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429768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37373"/>
                </a:solidFill>
                <a:latin typeface="Menlo" panose="020B0609030804020204"/>
              </a:defRPr>
            </a:pPr>
            <a:r>
              <a:t>MIDDLE · 有限合伙持股平台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617720"/>
            <a:ext cx="5303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5252"/>
                </a:solidFill>
                <a:latin typeface="Helvetica Neue" panose="02000503000000020004"/>
              </a:defRPr>
            </a:pPr>
            <a:r>
              <a:t>创业合伙人和核心骨干作为 LP，GP 集中表决权，便于治理和融资。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5486400"/>
            <a:ext cx="164592" cy="164592"/>
          </a:xfrm>
          <a:prstGeom prst="rect">
            <a:avLst/>
          </a:prstGeom>
          <a:solidFill>
            <a:srgbClr val="737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0" y="5440680"/>
            <a:ext cx="56692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55778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37373"/>
                </a:solidFill>
                <a:latin typeface="Menlo" panose="020B0609030804020204"/>
              </a:defRPr>
            </a:pPr>
            <a:r>
              <a:t>OUTER · 期权/虚拟股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5897880"/>
            <a:ext cx="5303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5252"/>
                </a:solidFill>
                <a:latin typeface="Helvetica Neue" panose="02000503000000020004"/>
              </a:defRPr>
            </a:pPr>
            <a:r>
              <a:t>大多数成长型人才通过期权协议或虚拟分红权获得激励，不改变工商股权。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62179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37373"/>
                </a:solidFill>
                <a:latin typeface="Menlo" panose="020B0609030804020204"/>
              </a:defRPr>
            </a:pPr>
            <a:r>
              <a:t>→ 员工原则上不直接成为工商股东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99999"/>
                </a:solidFill>
                <a:latin typeface="Menlo" panose="020B0609030804020204"/>
              </a:defRPr>
            </a:pPr>
            <a: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99999"/>
                </a:solidFill>
                <a:latin typeface="Menlo" panose="020B0609030804020204"/>
              </a:defRPr>
            </a:pPr>
            <a:r>
              <a:t>CONTROL ·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20040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99999"/>
                </a:solidFill>
                <a:latin typeface="Menlo" panose="020B0609030804020204"/>
              </a:defRPr>
            </a:pPr>
            <a:r>
              <a:t>10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6666"/>
                </a:solidFill>
                <a:latin typeface="Menlo" panose="020B0609030804020204"/>
              </a:defRPr>
            </a:pPr>
            <a:r>
              <a:t>FOUNDER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400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FFFFFF"/>
                </a:solidFill>
                <a:latin typeface="Helvetica Neue" panose="02000503000000020004"/>
              </a:rPr>
              <a:t>经济收益</a:t>
            </a:r>
            <a:endParaRPr sz="3200" b="0">
              <a:solidFill>
                <a:srgbClr val="FFFFFF"/>
              </a:solidFill>
              <a:latin typeface="Helvetica Neue" panose="02000503000000020004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FFFFFF"/>
                </a:solidFill>
                <a:latin typeface="Helvetica Neue" panose="02000503000000020004"/>
              </a:rPr>
              <a:t>≠ 经营</a:t>
            </a:r>
            <a:r>
              <a:rPr sz="3200" b="0">
                <a:solidFill>
                  <a:srgbClr val="5B7BFF"/>
                </a:solidFill>
                <a:latin typeface="Helvetica Neue" panose="02000503000000020004"/>
              </a:rPr>
              <a:t>决策权</a:t>
            </a:r>
            <a:endParaRPr sz="3200" b="0">
              <a:solidFill>
                <a:srgbClr val="5B7BFF"/>
              </a:solidFill>
              <a:latin typeface="Helvetica Neue" panose="020005030000000200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0" y="1645920"/>
            <a:ext cx="4114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AAAA"/>
                </a:solidFill>
                <a:latin typeface="Helvetica Neue" panose="02000503000000020004"/>
              </a:defRPr>
            </a:pPr>
            <a:r>
              <a:t>核心人才拥有经济收益不等于拥有经营决策权。必须在协议中区分股权、经营权和董事权。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3657600"/>
            <a:ext cx="12191695" cy="201168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9AADD"/>
                </a:solidFill>
                <a:latin typeface="Menlo" panose="020B0609030804020204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Helvetica Neue" panose="02000503000000020004"/>
              </a:defRPr>
            </a:pPr>
            <a:r>
              <a:t>持股平台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BCCFF"/>
                </a:solidFill>
                <a:latin typeface="Helvetica Neue" panose="02000503000000020004"/>
              </a:defRPr>
            </a:pPr>
            <a:r>
              <a:t>GP 集中表决权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9319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9AADD"/>
                </a:solidFill>
                <a:latin typeface="Menlo" panose="020B0609030804020204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425196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Helvetica Neue" panose="02000503000000020004"/>
              </a:defRPr>
            </a:pPr>
            <a:r>
              <a:t>表决权委托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47548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BCCFF"/>
                </a:solidFill>
                <a:latin typeface="Helvetica Neue" panose="02000503000000020004"/>
              </a:defRPr>
            </a:pPr>
            <a:r>
              <a:t>重大事项控制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9319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9AADD"/>
                </a:solidFill>
                <a:latin typeface="Menlo" panose="020B0609030804020204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25196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Helvetica Neue" panose="02000503000000020004"/>
              </a:defRPr>
            </a:pPr>
            <a:r>
              <a:t>一致行动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7548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BCCFF"/>
                </a:solidFill>
                <a:latin typeface="Helvetica Neue" panose="02000503000000020004"/>
              </a:defRPr>
            </a:pPr>
            <a:r>
              <a:t>联合投票机制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39319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9AADD"/>
                </a:solidFill>
                <a:latin typeface="Menlo" panose="020B0609030804020204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425196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Helvetica Neue" panose="02000503000000020004"/>
              </a:defRPr>
            </a:pPr>
            <a:r>
              <a:t>章程约定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47548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BCCFF"/>
                </a:solidFill>
                <a:latin typeface="Helvetica Neue" panose="02000503000000020004"/>
              </a:defRPr>
            </a:pPr>
            <a:r>
              <a:t>特别表决事项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88888"/>
                </a:solidFill>
                <a:latin typeface="Menlo" panose="020B0609030804020204"/>
              </a:defRPr>
            </a:pPr>
            <a: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37373"/>
                </a:solidFill>
                <a:latin typeface="Menlo" panose="020B0609030804020204"/>
              </a:defRPr>
            </a:pPr>
            <a:r>
              <a:t>FUNDING ·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20040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37373"/>
                </a:solidFill>
                <a:latin typeface="Menlo" panose="020B0609030804020204"/>
              </a:defRPr>
            </a:pPr>
            <a:r>
              <a:t>11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2FA7"/>
                </a:solidFill>
                <a:latin typeface="Menlo" panose="020B0609030804020204"/>
              </a:defRPr>
            </a:pPr>
            <a:r>
              <a:t>DILUTION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9144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0A0A0A"/>
                </a:solidFill>
                <a:latin typeface="Helvetica Neue" panose="02000503000000020004"/>
              </a:rPr>
              <a:t>比例可能</a:t>
            </a:r>
            <a:r>
              <a:rPr sz="3600" b="0">
                <a:solidFill>
                  <a:srgbClr val="002FA7"/>
                </a:solidFill>
                <a:latin typeface="Helvetica Neue" panose="02000503000000020004"/>
              </a:rPr>
              <a:t>下降</a:t>
            </a:r>
            <a:r>
              <a:rPr sz="3600" b="0">
                <a:solidFill>
                  <a:srgbClr val="0A0A0A"/>
                </a:solidFill>
                <a:latin typeface="Helvetica Neue" panose="02000503000000020004"/>
              </a:rPr>
              <a:t>，</a:t>
            </a:r>
            <a:endParaRPr sz="3600" b="0">
              <a:solidFill>
                <a:srgbClr val="0A0A0A"/>
              </a:solidFill>
              <a:latin typeface="Helvetica Neue" panose="02000503000000020004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0A0A0A"/>
                </a:solidFill>
                <a:latin typeface="Helvetica Neue" panose="02000503000000020004"/>
              </a:rPr>
              <a:t>价值仍可能</a:t>
            </a:r>
            <a:r>
              <a:rPr sz="3600" b="0">
                <a:solidFill>
                  <a:srgbClr val="0A0A0A"/>
                </a:solidFill>
                <a:latin typeface="Helvetica Neue" panose="02000503000000020004"/>
              </a:rPr>
              <a:t>增长</a:t>
            </a:r>
            <a:r>
              <a:rPr sz="3600" b="0">
                <a:solidFill>
                  <a:srgbClr val="0A0A0A"/>
                </a:solidFill>
                <a:latin typeface="Helvetica Neue" panose="02000503000000020004"/>
              </a:rPr>
              <a:t>。</a:t>
            </a:r>
            <a:endParaRPr sz="3600" b="0">
              <a:solidFill>
                <a:srgbClr val="0A0A0A"/>
              </a:solidFill>
              <a:latin typeface="Helvetica Neue" panose="020005030000000200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6988175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5252"/>
                </a:solidFill>
                <a:latin typeface="Helvetica Neue" panose="02000503000000020004"/>
              </a:defRPr>
            </a:pPr>
            <a:r>
              <a:t>融资时所有既有股东及持股平台按比例稀释。员工需要提前理解：公司估值提升，权益总价值仍可能增加。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846320"/>
            <a:ext cx="1106424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02920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37373"/>
                </a:solidFill>
                <a:latin typeface="Menlo" panose="020B0609030804020204"/>
              </a:defRPr>
            </a:pPr>
            <a: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94960"/>
            <a:ext cx="3474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0A0A0A"/>
                </a:solidFill>
                <a:latin typeface="Helvetica Neue" panose="02000503000000020004"/>
              </a:defRPr>
            </a:pPr>
            <a:r>
              <a:t>60%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1792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5252"/>
                </a:solidFill>
                <a:latin typeface="Helvetica Neue" panose="02000503000000020004"/>
              </a:defRPr>
            </a:pPr>
            <a:r>
              <a:t>创始团队持股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79" y="502920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37373"/>
                </a:solidFill>
                <a:latin typeface="Menlo" panose="020B0609030804020204"/>
              </a:defRPr>
            </a:pPr>
            <a:r>
              <a:t>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79" y="5394960"/>
            <a:ext cx="3474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002FA7"/>
                </a:solidFill>
                <a:latin typeface="Helvetica Neue" panose="02000503000000020004"/>
              </a:defRPr>
            </a:pPr>
            <a:r>
              <a:t>↓ 稀释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79" y="621792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5252"/>
                </a:solidFill>
                <a:latin typeface="Helvetica Neue" panose="02000503000000020004"/>
              </a:defRPr>
            </a:pPr>
            <a:r>
              <a:t>同比例下降，但估值提升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502920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37373"/>
                </a:solidFill>
                <a:latin typeface="Menlo" panose="020B0609030804020204"/>
              </a:defRPr>
            </a:pPr>
            <a:r>
              <a:t>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9" y="5394960"/>
            <a:ext cx="3474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0A0A0A"/>
                </a:solidFill>
                <a:latin typeface="Helvetica Neue" panose="02000503000000020004"/>
              </a:defRPr>
            </a:pPr>
            <a:r>
              <a:t>↑ 增长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621792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5252"/>
                </a:solidFill>
                <a:latin typeface="Helvetica Neue" panose="02000503000000020004"/>
              </a:defRPr>
            </a:pPr>
            <a:r>
              <a:t>权益总价值可能增加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99999"/>
                </a:solidFill>
                <a:latin typeface="Menlo" panose="020B0609030804020204"/>
              </a:defRPr>
            </a:pPr>
            <a: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99999"/>
                </a:solidFill>
                <a:latin typeface="Menlo" panose="020B0609030804020204"/>
              </a:defRPr>
            </a:pPr>
            <a:r>
              <a:t>EXIT ·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20040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99999"/>
                </a:solidFill>
                <a:latin typeface="Menlo" panose="020B0609030804020204"/>
              </a:defRPr>
            </a:pPr>
            <a:r>
              <a:t>12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6666"/>
                </a:solidFill>
                <a:latin typeface="Menlo" panose="020B0609030804020204"/>
              </a:defRPr>
            </a:pPr>
            <a:r>
              <a:t>EXIT &amp; BUYBACK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FFFFFF"/>
                </a:solidFill>
                <a:latin typeface="Helvetica Neue" panose="02000503000000020004"/>
              </a:rPr>
              <a:t>退出与</a:t>
            </a:r>
            <a:r>
              <a:rPr sz="3600" b="0">
                <a:solidFill>
                  <a:srgbClr val="5B7BFF"/>
                </a:solidFill>
                <a:latin typeface="Helvetica Neue" panose="02000503000000020004"/>
              </a:rPr>
              <a:t>回购</a:t>
            </a:r>
            <a:endParaRPr sz="3600" b="0">
              <a:solidFill>
                <a:srgbClr val="5B7BFF"/>
              </a:solidFill>
              <a:latin typeface="Helvetica Neue" panose="020005030000000200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99999"/>
                </a:solidFill>
                <a:latin typeface="Helvetica Neue" panose="02000503000000020004"/>
              </a:defRPr>
            </a:pPr>
            <a:r>
              <a:t>回购价格区分不同情况：原始取得成本、融资估值折扣、经审计净资产、董事会确认价值等。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03520" cy="254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Helvetica Neue" panose="02000503000000020004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5204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Menlo" panose="020B0609030804020204"/>
              </a:defRPr>
            </a:pPr>
            <a:r>
              <a:t>GOOD LEAVER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2336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Helvetica Neue" panose="02000503000000020004"/>
              </a:defRPr>
            </a:pPr>
            <a:r>
              <a:t>正常离职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63440"/>
            <a:ext cx="5303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AAAA"/>
                </a:solidFill>
                <a:latin typeface="Helvetica Neue" panose="02000503000000020004"/>
              </a:defRPr>
            </a:pPr>
            <a:r>
              <a:t>协商离开、非过错原因离开。可保留或由公司按约定价格回购已成熟权益。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57784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99999"/>
                </a:solidFill>
                <a:latin typeface="Helvetica Neue" panose="02000503000000020004"/>
              </a:defRPr>
            </a:pPr>
            <a:r>
              <a:t>·  已成熟权益：可保留或约定价格回购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4360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99999"/>
                </a:solidFill>
                <a:latin typeface="Helvetica Neue" panose="02000503000000020004"/>
              </a:defRPr>
            </a:pPr>
            <a:r>
              <a:t>·  未成熟权益：自动失效或名义价格回购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0936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99999"/>
                </a:solidFill>
                <a:latin typeface="Helvetica Neue" panose="02000503000000020004"/>
              </a:defRPr>
            </a:pPr>
            <a:r>
              <a:t>·  价格口径：取得成本或净资产折扣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3200400"/>
            <a:ext cx="12700" cy="32004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200400"/>
            <a:ext cx="5303520" cy="25400"/>
          </a:xfrm>
          <a:prstGeom prst="rect">
            <a:avLst/>
          </a:prstGeom>
          <a:solidFill>
            <a:srgbClr val="5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34747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B7BFF"/>
                </a:solidFill>
                <a:latin typeface="Helvetica Neue" panose="02000503000000020004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5204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Menlo" panose="020B0609030804020204"/>
              </a:defRPr>
            </a:pPr>
            <a:r>
              <a:t>BAD LEAVER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02336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5B7BFF"/>
                </a:solidFill>
                <a:latin typeface="Helvetica Neue" panose="02000503000000020004"/>
              </a:defRPr>
            </a:pPr>
            <a:r>
              <a:t>过错离职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663440"/>
            <a:ext cx="5303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AAAA"/>
                </a:solidFill>
                <a:latin typeface="Helvetica Neue" panose="02000503000000020004"/>
              </a:defRPr>
            </a:pPr>
            <a:r>
              <a:t>泄密、竞业、重大过错、损害公司利益。公司有权低价或按约定价格回购。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557784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99999"/>
                </a:solidFill>
                <a:latin typeface="Helvetica Neue" panose="02000503000000020004"/>
              </a:defRPr>
            </a:pPr>
            <a:r>
              <a:t>·  已成熟权益：公司有权低价回购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594360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99999"/>
                </a:solidFill>
                <a:latin typeface="Helvetica Neue" panose="02000503000000020004"/>
              </a:defRPr>
            </a:pPr>
            <a:r>
              <a:t>·  未成熟权益：全部失效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630936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99999"/>
                </a:solidFill>
                <a:latin typeface="Helvetica Neue" panose="02000503000000020004"/>
              </a:defRPr>
            </a:pPr>
            <a:r>
              <a:t>·  核心岗位主动离职：可设折价回购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88888"/>
                </a:solidFill>
                <a:latin typeface="Menlo" panose="020B0609030804020204"/>
              </a:defRPr>
            </a:pPr>
            <a: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37373"/>
                </a:solidFill>
                <a:latin typeface="Menlo" panose="020B0609030804020204"/>
              </a:defRPr>
            </a:pPr>
            <a:r>
              <a:t>ROADMAP ·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20040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37373"/>
                </a:solidFill>
                <a:latin typeface="Menlo" panose="020B0609030804020204"/>
              </a:defRPr>
            </a:pPr>
            <a:r>
              <a:t>13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37373"/>
                </a:solidFill>
                <a:latin typeface="Menlo" panose="020B0609030804020204"/>
              </a:defRPr>
            </a:pPr>
            <a: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0A0A0A"/>
                </a:solidFill>
                <a:latin typeface="Helvetica Neue" panose="02000503000000020004"/>
              </a:rPr>
              <a:t>实施</a:t>
            </a:r>
            <a:r>
              <a:rPr sz="3600" b="0">
                <a:solidFill>
                  <a:srgbClr val="002FA7"/>
                </a:solidFill>
                <a:latin typeface="Helvetica Neue" panose="02000503000000020004"/>
              </a:rPr>
              <a:t>路线图</a:t>
            </a:r>
            <a:endParaRPr sz="3600" b="0">
              <a:solidFill>
                <a:srgbClr val="002FA7"/>
              </a:solidFill>
              <a:latin typeface="Helvetica Neue" panose="020005030000000200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14400" y="2834640"/>
            <a:ext cx="137160" cy="137160"/>
          </a:xfrm>
          <a:prstGeom prst="rect">
            <a:avLst/>
          </a:prstGeom>
          <a:solidFill>
            <a:srgbClr val="737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3017520"/>
            <a:ext cx="12700" cy="6400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7432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37373"/>
                </a:solidFill>
                <a:latin typeface="Menlo" panose="020B0609030804020204"/>
              </a:defRPr>
            </a:pPr>
            <a:r>
              <a:t>WEEK 1-2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65176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0A0A0A"/>
                </a:solidFill>
                <a:latin typeface="Helvetica Neue" panose="02000503000000020004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7432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A0A0A"/>
                </a:solidFill>
                <a:latin typeface="Helvetica Neue" panose="02000503000000020004"/>
              </a:defRPr>
            </a:pPr>
            <a:r>
              <a:t>准备期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017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5252"/>
                </a:solidFill>
                <a:latin typeface="Helvetica Neue" panose="02000503000000020004"/>
              </a:defRPr>
            </a:pPr>
            <a:r>
              <a:t>确认股权架构、激励池比例、创始人控制权方案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611880"/>
            <a:ext cx="137160" cy="137160"/>
          </a:xfrm>
          <a:prstGeom prst="rect">
            <a:avLst/>
          </a:prstGeom>
          <a:solidFill>
            <a:srgbClr val="737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0120" y="3794760"/>
            <a:ext cx="12700" cy="6400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35204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37373"/>
                </a:solidFill>
                <a:latin typeface="Menlo" panose="020B0609030804020204"/>
              </a:defRPr>
            </a:pPr>
            <a:r>
              <a:t>WEEK 3-4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42900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0A0A0A"/>
                </a:solidFill>
                <a:latin typeface="Helvetica Neue" panose="02000503000000020004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5204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A0A0A"/>
                </a:solidFill>
                <a:latin typeface="Helvetica Neue" panose="02000503000000020004"/>
              </a:defRPr>
            </a:pPr>
            <a:r>
              <a:t>制度期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794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5252"/>
                </a:solidFill>
                <a:latin typeface="Helvetica Neue" panose="02000503000000020004"/>
              </a:defRPr>
            </a:pPr>
            <a:r>
              <a:t>完成章程、持股平台、期权协议、合伙人协议草案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389120"/>
            <a:ext cx="137160" cy="13716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60120" y="4572000"/>
            <a:ext cx="12700" cy="64008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42976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37373"/>
                </a:solidFill>
                <a:latin typeface="Menlo" panose="020B0609030804020204"/>
              </a:defRPr>
            </a:pPr>
            <a:r>
              <a:t>MONTH 2-3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20624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002FA7"/>
                </a:solidFill>
                <a:latin typeface="Helvetica Neue" panose="02000503000000020004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2976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2FA7"/>
                </a:solidFill>
                <a:latin typeface="Helvetica Neue" panose="02000503000000020004"/>
              </a:defRPr>
            </a:pPr>
            <a:r>
              <a:t>试运行期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5720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5252"/>
                </a:solidFill>
                <a:latin typeface="Helvetica Neue" panose="02000503000000020004"/>
              </a:defRPr>
            </a:pPr>
            <a:r>
              <a:t>先用于 5-8 名关键岗位谈判，验证报价模型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5166360"/>
            <a:ext cx="137160" cy="137160"/>
          </a:xfrm>
          <a:prstGeom prst="rect">
            <a:avLst/>
          </a:prstGeom>
          <a:solidFill>
            <a:srgbClr val="737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50749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37373"/>
                </a:solidFill>
                <a:latin typeface="Menlo" panose="020B0609030804020204"/>
              </a:defRPr>
            </a:pPr>
            <a:r>
              <a:t>MONTH 4-12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98348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0A0A0A"/>
                </a:solidFill>
                <a:latin typeface="Helvetica Neue" panose="02000503000000020004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50749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A0A0A"/>
                </a:solidFill>
                <a:latin typeface="Helvetica Neue" panose="02000503000000020004"/>
              </a:defRPr>
            </a:pPr>
            <a:r>
              <a:t>扩展期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53492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5252"/>
                </a:solidFill>
                <a:latin typeface="Helvetica Neue" panose="02000503000000020004"/>
              </a:defRPr>
            </a:pPr>
            <a:r>
              <a:t>推广至 50 人招聘体系，建立年度评估机制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715000"/>
            <a:ext cx="1106424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737373"/>
                </a:solidFill>
                <a:latin typeface="Menlo" panose="020B0609030804020204"/>
              </a:defRPr>
            </a:pPr>
            <a:r>
              <a:t>TEAM SIZE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03504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0A0A"/>
                </a:solidFill>
                <a:latin typeface="Helvetica Neue" panose="02000503000000020004"/>
              </a:rPr>
              <a:t>50</a:t>
            </a:r>
            <a:r>
              <a:rPr sz="1200" b="0">
                <a:solidFill>
                  <a:srgbClr val="737373"/>
                </a:solidFill>
                <a:latin typeface="Helvetica Neue" panose="02000503000000020004"/>
              </a:rPr>
              <a:t>人</a:t>
            </a:r>
            <a:endParaRPr sz="1200" b="0">
              <a:solidFill>
                <a:srgbClr val="737373"/>
              </a:solidFill>
              <a:latin typeface="Helvetica Neue" panose="020005030000000200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48640" y="649224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37373"/>
                </a:solidFill>
                <a:latin typeface="Helvetica Neue" panose="02000503000000020004"/>
              </a:defRPr>
            </a:pPr>
            <a:r>
              <a:t>创业团队规模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580644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737373"/>
                </a:solidFill>
                <a:latin typeface="Menlo" panose="020B0609030804020204"/>
              </a:defRPr>
            </a:pPr>
            <a:r>
              <a:t>INVESTMENT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603504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0A0A"/>
                </a:solidFill>
                <a:latin typeface="Helvetica Neue" panose="02000503000000020004"/>
              </a:rPr>
              <a:t>3000</a:t>
            </a:r>
            <a:r>
              <a:rPr sz="1200" b="0">
                <a:solidFill>
                  <a:srgbClr val="737373"/>
                </a:solidFill>
                <a:latin typeface="Helvetica Neue" panose="02000503000000020004"/>
              </a:rPr>
              <a:t>万</a:t>
            </a:r>
            <a:endParaRPr sz="1200" b="0">
              <a:solidFill>
                <a:srgbClr val="737373"/>
              </a:solidFill>
              <a:latin typeface="Helvetica Neue" panose="020005030000000200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383280" y="649224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37373"/>
                </a:solidFill>
                <a:latin typeface="Helvetica Neue" panose="02000503000000020004"/>
              </a:defRPr>
            </a:pPr>
            <a:r>
              <a:t>2 年建设投入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580644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737373"/>
                </a:solidFill>
                <a:latin typeface="Menlo" panose="020B0609030804020204"/>
              </a:defRPr>
            </a:pPr>
            <a:r>
              <a:t>PARTNERS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603504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0A0A"/>
                </a:solidFill>
                <a:latin typeface="Helvetica Neue" panose="02000503000000020004"/>
              </a:rPr>
              <a:t>5-8</a:t>
            </a:r>
            <a:r>
              <a:rPr sz="1200" b="0">
                <a:solidFill>
                  <a:srgbClr val="737373"/>
                </a:solidFill>
                <a:latin typeface="Helvetica Neue" panose="02000503000000020004"/>
              </a:rPr>
              <a:t>人</a:t>
            </a:r>
            <a:endParaRPr sz="1200" b="0">
              <a:solidFill>
                <a:srgbClr val="737373"/>
              </a:solidFill>
              <a:latin typeface="Helvetica Neue" panose="020005030000000200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217920" y="649224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37373"/>
                </a:solidFill>
                <a:latin typeface="Helvetica Neue" panose="02000503000000020004"/>
              </a:defRPr>
            </a:pPr>
            <a:r>
              <a:t>创业合伙人数量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580644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737373"/>
                </a:solidFill>
                <a:latin typeface="Menlo" panose="020B0609030804020204"/>
              </a:defRPr>
            </a:pPr>
            <a:r>
              <a:t>VESTING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0" y="603504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0A0A"/>
                </a:solidFill>
                <a:latin typeface="Helvetica Neue" panose="02000503000000020004"/>
              </a:rPr>
              <a:t>4</a:t>
            </a:r>
            <a:r>
              <a:rPr sz="1200" b="0">
                <a:solidFill>
                  <a:srgbClr val="737373"/>
                </a:solidFill>
                <a:latin typeface="Helvetica Neue" panose="02000503000000020004"/>
              </a:rPr>
              <a:t>年</a:t>
            </a:r>
            <a:endParaRPr sz="1200" b="0">
              <a:solidFill>
                <a:srgbClr val="737373"/>
              </a:solidFill>
              <a:latin typeface="Helvetica Neue" panose="020005030000000200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052560" y="649224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37373"/>
                </a:solidFill>
                <a:latin typeface="Helvetica Neue" panose="02000503000000020004"/>
              </a:defRPr>
            </a:pPr>
            <a:r>
              <a:t>权益成熟周期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99999"/>
                </a:solidFill>
                <a:latin typeface="Menlo" panose="020B0609030804020204"/>
              </a:defRPr>
            </a:pPr>
            <a: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9AADD"/>
                </a:solidFill>
                <a:latin typeface="Menlo" panose="020B0609030804020204"/>
              </a:defRPr>
            </a:pPr>
            <a:r>
              <a:t>14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20040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37373"/>
                </a:solidFill>
                <a:latin typeface="Menlo" panose="020B0609030804020204"/>
              </a:defRPr>
            </a:pPr>
            <a: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BCCFF"/>
                </a:solidFill>
                <a:latin typeface="Menlo" panose="020B0609030804020204"/>
              </a:defRPr>
            </a:pPr>
            <a:r>
              <a:t>MANIFESTO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4754880" cy="736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  <a:latin typeface="Helvetica Neue" panose="02000503000000020004"/>
              </a:rPr>
              <a:t>四机制为</a:t>
            </a:r>
            <a:r>
              <a:rPr sz="4000" b="0">
                <a:solidFill>
                  <a:srgbClr val="FFFFFF"/>
                </a:solidFill>
                <a:latin typeface="Helvetica Neue" panose="02000503000000020004"/>
              </a:rPr>
              <a:t>王</a:t>
            </a:r>
            <a:endParaRPr sz="4000" b="0">
              <a:solidFill>
                <a:srgbClr val="FFFFFF"/>
              </a:solidFill>
              <a:latin typeface="Helvetica Neue" panose="020005030000000200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DDFF"/>
                </a:solidFill>
                <a:latin typeface="Helvetica Neue" panose="02000503000000020004"/>
              </a:defRPr>
            </a:pPr>
            <a:r>
              <a:t>制度落地最重要的不是比例本身，而是四个机制是否清晰。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217920"/>
            <a:ext cx="4572000" cy="12700"/>
          </a:xfrm>
          <a:prstGeom prst="rect">
            <a:avLst/>
          </a:prstGeom>
          <a:solidFill>
            <a:srgbClr val="33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899CC"/>
                </a:solidFill>
                <a:latin typeface="Menlo" panose="020B0609030804020204"/>
              </a:defRPr>
            </a:pPr>
            <a:r>
              <a:t>榜样科技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200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37373"/>
                </a:solidFill>
                <a:latin typeface="Menlo" panose="020B0609030804020204"/>
              </a:defRPr>
            </a:pPr>
            <a: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32004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37373"/>
                </a:solidFill>
                <a:latin typeface="Menlo" panose="020B0609030804020204"/>
              </a:defRPr>
            </a:pPr>
            <a:r>
              <a:t>04 RULES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54864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234440"/>
            <a:ext cx="914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0A0A0A"/>
                </a:solidFill>
                <a:latin typeface="Helvetica Neue" panose="02000503000000020004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28016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A0A0A"/>
                </a:solidFill>
                <a:latin typeface="Helvetica Neue" panose="02000503000000020004"/>
              </a:defRPr>
            </a:pPr>
            <a:r>
              <a:t>授予资格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69164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5252"/>
                </a:solidFill>
                <a:latin typeface="Helvetica Neue" panose="02000503000000020004"/>
              </a:defRPr>
            </a:pPr>
            <a:r>
              <a:t>先取得资格，实际成熟后再确认权益。不是直接给股份。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331720"/>
            <a:ext cx="54864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468880"/>
            <a:ext cx="914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0A0A0A"/>
                </a:solidFill>
                <a:latin typeface="Helvetica Neue" panose="02000503000000020004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51460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A0A0A"/>
                </a:solidFill>
                <a:latin typeface="Helvetica Neue" panose="02000503000000020004"/>
              </a:defRPr>
            </a:pPr>
            <a:r>
              <a:t>成熟条件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9260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5252"/>
                </a:solidFill>
                <a:latin typeface="Helvetica Neue" panose="02000503000000020004"/>
              </a:defRPr>
            </a:pPr>
            <a:r>
              <a:t>4 年 Vesting + 业绩触发双条件。时间到了不一定自动成熟。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566160"/>
            <a:ext cx="54864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703320"/>
            <a:ext cx="914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0A0A0A"/>
                </a:solidFill>
                <a:latin typeface="Helvetica Neue" panose="02000503000000020004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74904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A0A0A"/>
                </a:solidFill>
                <a:latin typeface="Helvetica Neue" panose="02000503000000020004"/>
              </a:defRPr>
            </a:pPr>
            <a:r>
              <a:t>退出回购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16052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5252"/>
                </a:solidFill>
                <a:latin typeface="Helvetica Neue" panose="02000503000000020004"/>
              </a:defRPr>
            </a:pPr>
            <a:r>
              <a:t>Good/Bad Leaver 区分，价格规则写入授予通知书。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800600"/>
            <a:ext cx="5486400" cy="127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5943600"/>
            <a:ext cx="5486400" cy="254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4937760"/>
            <a:ext cx="914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002FA7"/>
                </a:solidFill>
                <a:latin typeface="Helvetica Neue" panose="02000503000000020004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983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2FA7"/>
                </a:solidFill>
                <a:latin typeface="Helvetica Neue" panose="02000503000000020004"/>
              </a:defRPr>
            </a:pPr>
            <a:r>
              <a:t>控制权边界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539496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5252"/>
                </a:solidFill>
                <a:latin typeface="Helvetica Neue" panose="02000503000000020004"/>
              </a:defRPr>
            </a:pPr>
            <a:r>
              <a:t>股权、经营权、董事权三权分立，协议中明确边界。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63093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37373"/>
                </a:solidFill>
                <a:latin typeface="Menlo" panose="020B0609030804020204"/>
              </a:defRPr>
            </a:pPr>
            <a:r>
              <a:t>→ 完 · END OF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3368</Words>
  <Application>WPS 演示</Application>
  <PresentationFormat>On-screen Show (4:3)</PresentationFormat>
  <Paragraphs>530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9" baseType="lpstr">
      <vt:lpstr>Arial</vt:lpstr>
      <vt:lpstr>宋体</vt:lpstr>
      <vt:lpstr>Wingdings</vt:lpstr>
      <vt:lpstr>Arial</vt:lpstr>
      <vt:lpstr>Menlo</vt:lpstr>
      <vt:lpstr>Helvetica Neue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Menlo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晏少</cp:lastModifiedBy>
  <cp:revision>4</cp:revision>
  <dcterms:created xsi:type="dcterms:W3CDTF">2026-07-27T12:31:48Z</dcterms:created>
  <dcterms:modified xsi:type="dcterms:W3CDTF">2026-07-27T12:31:48Z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2052-12.1.23540.23540</vt:lpwstr>
  </property>
  <property fmtid="{D5CDD505-2E9C-101B-9397-08002B2CF9AE}" pid="3" name="ICV">
    <vt:lpwstr>C2D2995E41C3FF22B44F676A51F78BB9_43</vt:lpwstr>
  </property>
</Properties>
</file>