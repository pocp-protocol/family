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225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485900"/>
            <a:ext cx="8953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榜样教育AI成长平台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2381250"/>
            <a:ext cx="857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战略白皮书 30页演讲汇报版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3295650"/>
            <a:ext cx="876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CBD5E1"/>
                </a:solidFill>
              </a:defRPr>
            </a:pPr>
            <a:r>
              <a:rPr sz="1800" b="0">
                <a:solidFill>
                  <a:srgbClr val="CBD5E1"/>
                </a:solidFill>
              </a:rPr>
              <a:t>不是一家AI工具公司，而是一家家庭成长数据科技公司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23900" y="4171950"/>
            <a:ext cx="7239000" cy="19050"/>
          </a:xfrm>
          <a:prstGeom prst="rect">
            <a:avLst/>
          </a:prstGeom>
          <a:solidFill>
            <a:srgbClr val="33415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23900" y="4476750"/>
            <a:ext cx="723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CBD5E1"/>
                </a:solidFill>
              </a:defRPr>
            </a:pPr>
            <a:r>
              <a:rPr sz="1425" b="0">
                <a:solidFill>
                  <a:srgbClr val="CBD5E1"/>
                </a:solidFill>
              </a:rPr>
              <a:t>董事会汇报 / 合作伙伴沟通 / 融资前战略共识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23900" y="50482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94A3B8"/>
                </a:solidFill>
              </a:defRPr>
            </a:pPr>
            <a:r>
              <a:rPr sz="1350" b="0">
                <a:solidFill>
                  <a:srgbClr val="94A3B8"/>
                </a:solidFill>
              </a:rPr>
              <a:t>2026.07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514350" y="438150"/>
            <a:ext cx="857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今天只回答一个问题：榜样教育如何从课程公司升级为平台公司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10287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30页版本压缩为一条汇报主线：机会、定位、模式、能力、路径。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1428750"/>
            <a:ext cx="111252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14350" y="640080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榜样教育AI成长平台战略汇报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144250" y="63817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02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85800" y="1809750"/>
            <a:ext cx="704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2563EB"/>
                </a:solidFill>
              </a:defRPr>
            </a:pPr>
            <a:r>
              <a:rPr sz="2250" b="1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562100" y="1790700"/>
            <a:ext cx="4000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为什么现在必须升级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867400" y="1847850"/>
            <a:ext cx="495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教培旧逻辑结束，家庭成长需求上升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85800" y="2590800"/>
            <a:ext cx="704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2563EB"/>
                </a:solidFill>
              </a:defRPr>
            </a:pPr>
            <a:r>
              <a:rPr sz="2250" b="1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562100" y="2571750"/>
            <a:ext cx="4000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我们到底是什么公司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5867400" y="2628900"/>
            <a:ext cx="495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家庭成长数据科技公司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85800" y="3371850"/>
            <a:ext cx="704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2563EB"/>
                </a:solidFill>
              </a:defRPr>
            </a:pPr>
            <a:r>
              <a:rPr sz="2250" b="1">
                <a:solidFill>
                  <a:srgbClr val="2563EB"/>
                </a:solidFill>
              </a:rPr>
              <a:t>03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562100" y="3352800"/>
            <a:ext cx="4000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怎么赚钱、怎么持续增长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5867400" y="3409950"/>
            <a:ext cx="495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课程入口 + 会员订阅 + AI陪伴 + 生态服务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85800" y="4152900"/>
            <a:ext cx="704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2563EB"/>
                </a:solidFill>
              </a:defRPr>
            </a:pPr>
            <a:r>
              <a:rPr sz="2250" b="1">
                <a:solidFill>
                  <a:srgbClr val="2563EB"/>
                </a:solidFill>
              </a:rPr>
              <a:t>04</a:t>
            </a: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562100" y="4133850"/>
            <a:ext cx="4000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为什么能形成壁垒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5867400" y="4191000"/>
            <a:ext cx="495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标准化交付、成长数据、AI协同</a:t>
            </a: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85800" y="4933950"/>
            <a:ext cx="704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2563EB"/>
                </a:solidFill>
              </a:defRPr>
            </a:pPr>
            <a:r>
              <a:rPr sz="2250" b="1">
                <a:solidFill>
                  <a:srgbClr val="2563EB"/>
                </a:solidFill>
              </a:rPr>
              <a:t>05</a:t>
            </a: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562100" y="4914900"/>
            <a:ext cx="4000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未来三到五年怎么打</a:t>
            </a: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867400" y="4972050"/>
            <a:ext cx="495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从爆款产品到数据平台，再到生态开放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685800" y="6858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开场判断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581150"/>
            <a:ext cx="95250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525" b="1">
                <a:solidFill>
                  <a:srgbClr val="111827"/>
                </a:solidFill>
              </a:defRPr>
            </a:pPr>
            <a:r>
              <a:rPr sz="3525" b="1">
                <a:solidFill>
                  <a:srgbClr val="111827"/>
                </a:solidFill>
              </a:rPr>
              <a:t>榜样教育的核心机会，不是做AI教育工具，而是重构家庭成长服务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23900" y="3905250"/>
            <a:ext cx="8667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475569"/>
                </a:solidFill>
              </a:defRPr>
            </a:pPr>
            <a:r>
              <a:rPr sz="1800" b="0">
                <a:solidFill>
                  <a:srgbClr val="475569"/>
                </a:solidFill>
              </a:rPr>
              <a:t>课程只是入口，AI只是能力，真正长期值钱的是持续沉淀的家庭成长数据和可复购的陪伴体系。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5143500"/>
            <a:ext cx="809625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14350" y="640080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榜样教育AI成长平台战略汇报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144250" y="63817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514350" y="438150"/>
            <a:ext cx="857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传统教培逻辑正在失效，家庭教育需求正在换挡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10287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家长不只要提分，更要解决关系、习惯、动力和长期成长。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1428750"/>
            <a:ext cx="111252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14350" y="640080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榜样教育AI成长平台战略汇报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144250" y="63817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04</a:t>
            </a: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685800" y="1924050"/>
            <a:ext cx="3143250" cy="3067050"/>
          </a:xfrm>
          <a:prstGeom prst="roundRect">
            <a:avLst>
              <a:gd name="adj" fmla="val 2484"/>
            </a:avLst>
          </a:prstGeom>
          <a:solidFill>
            <a:srgbClr val="F3F4F6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33450" y="2209800"/>
            <a:ext cx="2628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2563EB"/>
                </a:solidFill>
              </a:defRPr>
            </a:pPr>
            <a:r>
              <a:rPr sz="1950" b="1">
                <a:solidFill>
                  <a:srgbClr val="2563EB"/>
                </a:solidFill>
              </a:rPr>
              <a:t>学习焦虑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33450" y="2838450"/>
            <a:ext cx="26289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成绩压力仍在，但单纯补课越来越难解释长期价值。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33450" y="4248150"/>
            <a:ext cx="2628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从提分转向成长</a:t>
            </a: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4362450" y="1924050"/>
            <a:ext cx="3143250" cy="3067050"/>
          </a:xfrm>
          <a:prstGeom prst="roundRect">
            <a:avLst>
              <a:gd name="adj" fmla="val 2484"/>
            </a:avLst>
          </a:prstGeom>
          <a:solidFill>
            <a:srgbClr val="F3F4F6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610100" y="2209800"/>
            <a:ext cx="2628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059669"/>
                </a:solidFill>
              </a:defRPr>
            </a:pPr>
            <a:r>
              <a:rPr sz="1950" b="1">
                <a:solidFill>
                  <a:srgbClr val="059669"/>
                </a:solidFill>
              </a:rPr>
              <a:t>关系焦虑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610100" y="2838450"/>
            <a:ext cx="26289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亲子冲突、沟通失效、手机沉迷成为家庭高频痛点。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610100" y="4248150"/>
            <a:ext cx="2628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从课堂转向家庭</a:t>
            </a: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8039100" y="1924050"/>
            <a:ext cx="3143250" cy="3067050"/>
          </a:xfrm>
          <a:prstGeom prst="roundRect">
            <a:avLst>
              <a:gd name="adj" fmla="val 2484"/>
            </a:avLst>
          </a:prstGeom>
          <a:solidFill>
            <a:srgbClr val="F3F4F6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286750" y="2209800"/>
            <a:ext cx="2628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D97706"/>
                </a:solidFill>
              </a:defRPr>
            </a:pPr>
            <a:r>
              <a:rPr sz="1950" b="1">
                <a:solidFill>
                  <a:srgbClr val="D97706"/>
                </a:solidFill>
              </a:rPr>
              <a:t>陪伴缺口</a:t>
            </a: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286750" y="2838450"/>
            <a:ext cx="26289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家长需要每天可执行、可反馈、可坚持的成长方案。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286750" y="4248150"/>
            <a:ext cx="2628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从课程转向陪伴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685800" y="6858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核心判断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581150"/>
            <a:ext cx="95250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525" b="1">
                <a:solidFill>
                  <a:srgbClr val="111827"/>
                </a:solidFill>
              </a:defRPr>
            </a:pPr>
            <a:r>
              <a:rPr sz="3525" b="1">
                <a:solidFill>
                  <a:srgbClr val="111827"/>
                </a:solidFill>
              </a:rPr>
              <a:t>用户真正购买的不是AI，而是孩子改变和家庭关系改善的确定性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23900" y="3905250"/>
            <a:ext cx="8667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475569"/>
                </a:solidFill>
              </a:defRPr>
            </a:pPr>
            <a:r>
              <a:rPr sz="1800" b="0">
                <a:solidFill>
                  <a:srgbClr val="475569"/>
                </a:solidFill>
              </a:rPr>
              <a:t>如果没有行为改变，AI越强也只是工具；如果能持续记录改变，AI才会变成产品壁垒。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5143500"/>
            <a:ext cx="809625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14350" y="640080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榜样教育AI成长平台战略汇报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144250" y="63817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514350" y="438150"/>
            <a:ext cx="857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正确战略顺序：先有产品闭环，再长成平台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10287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平台不是第一天设计出来的，而是从高留存产品和高质量数据中长出来的。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1428750"/>
            <a:ext cx="111252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14350" y="640080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榜样教育AI成长平台战略汇报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144250" y="63817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06</a:t>
            </a: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723900" y="2438400"/>
            <a:ext cx="1428750" cy="1066800"/>
          </a:xfrm>
          <a:prstGeom prst="roundRect">
            <a:avLst>
              <a:gd name="adj" fmla="val 7143"/>
            </a:avLst>
          </a:prstGeom>
          <a:solidFill>
            <a:srgbClr val="DBEAFE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95350" y="2705100"/>
            <a:ext cx="1085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课程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95350" y="3067050"/>
            <a:ext cx="1085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入口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190750" y="278130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0">
                <a:solidFill>
                  <a:srgbClr val="CBD5E1"/>
                </a:solidFill>
              </a:defRPr>
            </a:pPr>
            <a:r>
              <a:rPr sz="2100" b="0">
                <a:solidFill>
                  <a:srgbClr val="CBD5E1"/>
                </a:solidFill>
              </a:rPr>
              <a:t>→</a:t>
            </a: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2476500" y="2438400"/>
            <a:ext cx="1428750" cy="1066800"/>
          </a:xfrm>
          <a:prstGeom prst="roundRect">
            <a:avLst>
              <a:gd name="adj" fmla="val 7143"/>
            </a:avLst>
          </a:prstGeom>
          <a:solidFill>
            <a:srgbClr val="F3F4F6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647950" y="2705100"/>
            <a:ext cx="1085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行为改变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647950" y="3067050"/>
            <a:ext cx="1085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价值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943350" y="278130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0">
                <a:solidFill>
                  <a:srgbClr val="CBD5E1"/>
                </a:solidFill>
              </a:defRPr>
            </a:pPr>
            <a:r>
              <a:rPr sz="2100" b="0">
                <a:solidFill>
                  <a:srgbClr val="CBD5E1"/>
                </a:solidFill>
              </a:rPr>
              <a:t>→</a:t>
            </a: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4229100" y="2438400"/>
            <a:ext cx="1428750" cy="1066800"/>
          </a:xfrm>
          <a:prstGeom prst="roundRect">
            <a:avLst>
              <a:gd name="adj" fmla="val 7143"/>
            </a:avLst>
          </a:prstGeom>
          <a:solidFill>
            <a:srgbClr val="F3F4F6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400550" y="2705100"/>
            <a:ext cx="1085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成长记录</a:t>
            </a: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400550" y="3067050"/>
            <a:ext cx="1085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数据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5695950" y="278130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0">
                <a:solidFill>
                  <a:srgbClr val="CBD5E1"/>
                </a:solidFill>
              </a:defRPr>
            </a:pPr>
            <a:r>
              <a:rPr sz="2100" b="0">
                <a:solidFill>
                  <a:srgbClr val="CBD5E1"/>
                </a:solidFill>
              </a:rPr>
              <a:t>→</a:t>
            </a: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5981700" y="2438400"/>
            <a:ext cx="1428750" cy="1066800"/>
          </a:xfrm>
          <a:prstGeom prst="roundRect">
            <a:avLst>
              <a:gd name="adj" fmla="val 7143"/>
            </a:avLst>
          </a:prstGeom>
          <a:solidFill>
            <a:srgbClr val="F3F4F6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153150" y="2705100"/>
            <a:ext cx="1085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AI陪伴</a:t>
            </a: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153150" y="3067050"/>
            <a:ext cx="1085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续费</a:t>
            </a: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448550" y="278130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0">
                <a:solidFill>
                  <a:srgbClr val="CBD5E1"/>
                </a:solidFill>
              </a:defRPr>
            </a:pPr>
            <a:r>
              <a:rPr sz="2100" b="0">
                <a:solidFill>
                  <a:srgbClr val="CBD5E1"/>
                </a:solidFill>
              </a:rPr>
              <a:t>→</a:t>
            </a: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7734300" y="2438400"/>
            <a:ext cx="1428750" cy="1066800"/>
          </a:xfrm>
          <a:prstGeom prst="roundRect">
            <a:avLst>
              <a:gd name="adj" fmla="val 7143"/>
            </a:avLst>
          </a:prstGeom>
          <a:solidFill>
            <a:srgbClr val="F3F4F6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905750" y="2705100"/>
            <a:ext cx="1085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数据库</a:t>
            </a: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905750" y="3067050"/>
            <a:ext cx="1085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壁垒</a:t>
            </a: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201150" y="278130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0">
                <a:solidFill>
                  <a:srgbClr val="CBD5E1"/>
                </a:solidFill>
              </a:defRPr>
            </a:pPr>
            <a:r>
              <a:rPr sz="2100" b="0">
                <a:solidFill>
                  <a:srgbClr val="CBD5E1"/>
                </a:solidFill>
              </a:rPr>
              <a:t>→</a:t>
            </a: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9486900" y="2438400"/>
            <a:ext cx="1428750" cy="1066800"/>
          </a:xfrm>
          <a:prstGeom prst="roundRect">
            <a:avLst>
              <a:gd name="adj" fmla="val 7143"/>
            </a:avLst>
          </a:prstGeom>
          <a:solidFill>
            <a:srgbClr val="F3F4F6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9658350" y="2705100"/>
            <a:ext cx="1085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平台生态</a:t>
            </a: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9658350" y="3067050"/>
            <a:ext cx="1085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放大</a:t>
            </a: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066800" y="4400550"/>
            <a:ext cx="9334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关键不是先宣布平台，而是让平台从可复购的产品、可记录的数据和可扩展的服务中自然长出来。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514350" y="438150"/>
            <a:ext cx="857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公司定位要从教育公司升级为家庭成长数据科技公司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10287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这一定义决定产品、组织、融资故事和长期估值方式。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1428750"/>
            <a:ext cx="111252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14350" y="640080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榜样教育AI成长平台战略汇报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144250" y="63817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07</a:t>
            </a: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685800" y="1924050"/>
            <a:ext cx="3143250" cy="3067050"/>
          </a:xfrm>
          <a:prstGeom prst="roundRect">
            <a:avLst>
              <a:gd name="adj" fmla="val 2484"/>
            </a:avLst>
          </a:prstGeom>
          <a:solidFill>
            <a:srgbClr val="F3F4F6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33450" y="2209800"/>
            <a:ext cx="2628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DC2626"/>
                </a:solidFill>
              </a:defRPr>
            </a:pPr>
            <a:r>
              <a:rPr sz="1950" b="1">
                <a:solidFill>
                  <a:srgbClr val="DC2626"/>
                </a:solidFill>
              </a:rPr>
              <a:t>不是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33450" y="2838450"/>
            <a:ext cx="26289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不是传统课程公司，不靠老师个人能力无限扩张。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33450" y="4248150"/>
            <a:ext cx="2628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摆脱人效天花板</a:t>
            </a: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4362450" y="1924050"/>
            <a:ext cx="3143250" cy="3067050"/>
          </a:xfrm>
          <a:prstGeom prst="roundRect">
            <a:avLst>
              <a:gd name="adj" fmla="val 2484"/>
            </a:avLst>
          </a:prstGeom>
          <a:solidFill>
            <a:srgbClr val="F3F4F6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610100" y="2209800"/>
            <a:ext cx="2628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D97706"/>
                </a:solidFill>
              </a:defRPr>
            </a:pPr>
            <a:r>
              <a:rPr sz="1950" b="1">
                <a:solidFill>
                  <a:srgbClr val="D97706"/>
                </a:solidFill>
              </a:rPr>
              <a:t>也不是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610100" y="2838450"/>
            <a:ext cx="26289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不是AI聊天工具公司，不把大模型包装成唯一卖点。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610100" y="4248150"/>
            <a:ext cx="2628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避免技术同质化</a:t>
            </a: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8039100" y="1924050"/>
            <a:ext cx="3143250" cy="3067050"/>
          </a:xfrm>
          <a:prstGeom prst="roundRect">
            <a:avLst>
              <a:gd name="adj" fmla="val 2484"/>
            </a:avLst>
          </a:prstGeom>
          <a:solidFill>
            <a:srgbClr val="F3F4F6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286750" y="2209800"/>
            <a:ext cx="2628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059669"/>
                </a:solidFill>
              </a:defRPr>
            </a:pPr>
            <a:r>
              <a:rPr sz="1950" b="1">
                <a:solidFill>
                  <a:srgbClr val="059669"/>
                </a:solidFill>
              </a:rPr>
              <a:t>而是</a:t>
            </a: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286750" y="2838450"/>
            <a:ext cx="26289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家庭成长产品、数据和AI协同的平台公司。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286750" y="4248150"/>
            <a:ext cx="2628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形成长期复利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514350" y="438150"/>
            <a:ext cx="857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商业闭环必须从一次性课程收入升级为复合收入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10287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收入结构决定公司估值：一次性课程看现金流，订阅和数据生态看平台价值。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1428750"/>
            <a:ext cx="111252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14350" y="640080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榜样教育AI成长平台战略汇报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144250" y="63817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08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1809750"/>
            <a:ext cx="10972800" cy="495300"/>
          </a:xfrm>
          <a:prstGeom prst="rect">
            <a:avLst/>
          </a:prstGeom>
          <a:solidFill>
            <a:srgbClr val="0B1220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193357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层级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3486150" y="193357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产品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229350" y="193357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价格带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972550" y="193357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战略作用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09600" y="2305050"/>
            <a:ext cx="10972800" cy="55245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42950" y="24288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入口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486150" y="24288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体验课 / 训练营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229350" y="24288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99-399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972550" y="24288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获客与筛选</a:t>
            </a: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09600" y="2857500"/>
            <a:ext cx="109728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42950" y="29813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核心</a:t>
            </a: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3486150" y="29813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深度课程</a:t>
            </a: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229350" y="29813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1999-9999</a:t>
            </a: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972550" y="29813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行为改变与信任</a:t>
            </a: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09600" y="3409950"/>
            <a:ext cx="10972800" cy="55245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42950" y="35337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订阅</a:t>
            </a: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3486150" y="35337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AI成长助手</a:t>
            </a: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229350" y="35337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999-2999/年</a:t>
            </a: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972550" y="35337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长期陪伴与续费</a:t>
            </a: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09600" y="3962400"/>
            <a:ext cx="109728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42950" y="40862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数据</a:t>
            </a: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3486150" y="40862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成长档案 / 报告</a:t>
            </a: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229350" y="40862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会员权益</a:t>
            </a: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972550" y="40862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沉淀家庭画像</a:t>
            </a: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609600" y="4514850"/>
            <a:ext cx="10972800" cy="55245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742950" y="46386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生态</a:t>
            </a: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3486150" y="46386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研学 / 咨询 / 规划</a:t>
            </a: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6229350" y="46386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高客单</a:t>
            </a: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8972550" y="46386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拓展家庭生命周期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514350" y="438150"/>
            <a:ext cx="857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用户路径要从流量漏斗升级为成长旅程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10287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每一步都要有明确的用户任务、产品承接和数据沉淀。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1428750"/>
            <a:ext cx="111252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14350" y="640080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榜样教育AI成长平台战略汇报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144250" y="63817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09</a:t>
            </a: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723900" y="2438400"/>
            <a:ext cx="1428750" cy="1066800"/>
          </a:xfrm>
          <a:prstGeom prst="roundRect">
            <a:avLst>
              <a:gd name="adj" fmla="val 7143"/>
            </a:avLst>
          </a:prstGeom>
          <a:solidFill>
            <a:srgbClr val="DBEAFE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95350" y="2705100"/>
            <a:ext cx="1085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内容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95350" y="3067050"/>
            <a:ext cx="1085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触达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190750" y="278130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0">
                <a:solidFill>
                  <a:srgbClr val="CBD5E1"/>
                </a:solidFill>
              </a:defRPr>
            </a:pPr>
            <a:r>
              <a:rPr sz="2100" b="0">
                <a:solidFill>
                  <a:srgbClr val="CBD5E1"/>
                </a:solidFill>
              </a:rPr>
              <a:t>→</a:t>
            </a: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2476500" y="2438400"/>
            <a:ext cx="1428750" cy="1066800"/>
          </a:xfrm>
          <a:prstGeom prst="roundRect">
            <a:avLst>
              <a:gd name="adj" fmla="val 7143"/>
            </a:avLst>
          </a:prstGeom>
          <a:solidFill>
            <a:srgbClr val="F3F4F6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647950" y="2705100"/>
            <a:ext cx="1085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直播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647950" y="3067050"/>
            <a:ext cx="1085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信任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943350" y="278130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0">
                <a:solidFill>
                  <a:srgbClr val="CBD5E1"/>
                </a:solidFill>
              </a:defRPr>
            </a:pPr>
            <a:r>
              <a:rPr sz="2100" b="0">
                <a:solidFill>
                  <a:srgbClr val="CBD5E1"/>
                </a:solidFill>
              </a:rPr>
              <a:t>→</a:t>
            </a: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4229100" y="2438400"/>
            <a:ext cx="1428750" cy="1066800"/>
          </a:xfrm>
          <a:prstGeom prst="roundRect">
            <a:avLst>
              <a:gd name="adj" fmla="val 7143"/>
            </a:avLst>
          </a:prstGeom>
          <a:solidFill>
            <a:srgbClr val="F3F4F6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400550" y="2705100"/>
            <a:ext cx="1085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体验课</a:t>
            </a: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400550" y="3067050"/>
            <a:ext cx="1085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转化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5695950" y="278130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0">
                <a:solidFill>
                  <a:srgbClr val="CBD5E1"/>
                </a:solidFill>
              </a:defRPr>
            </a:pPr>
            <a:r>
              <a:rPr sz="2100" b="0">
                <a:solidFill>
                  <a:srgbClr val="CBD5E1"/>
                </a:solidFill>
              </a:rPr>
              <a:t>→</a:t>
            </a: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5981700" y="2438400"/>
            <a:ext cx="1428750" cy="1066800"/>
          </a:xfrm>
          <a:prstGeom prst="roundRect">
            <a:avLst>
              <a:gd name="adj" fmla="val 7143"/>
            </a:avLst>
          </a:prstGeom>
          <a:solidFill>
            <a:srgbClr val="F3F4F6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153150" y="2705100"/>
            <a:ext cx="1085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训练营</a:t>
            </a: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153150" y="3067050"/>
            <a:ext cx="1085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改变</a:t>
            </a: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448550" y="278130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0">
                <a:solidFill>
                  <a:srgbClr val="CBD5E1"/>
                </a:solidFill>
              </a:defRPr>
            </a:pPr>
            <a:r>
              <a:rPr sz="2100" b="0">
                <a:solidFill>
                  <a:srgbClr val="CBD5E1"/>
                </a:solidFill>
              </a:rPr>
              <a:t>→</a:t>
            </a: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7734300" y="2438400"/>
            <a:ext cx="1428750" cy="1066800"/>
          </a:xfrm>
          <a:prstGeom prst="roundRect">
            <a:avLst>
              <a:gd name="adj" fmla="val 7143"/>
            </a:avLst>
          </a:prstGeom>
          <a:solidFill>
            <a:srgbClr val="F3F4F6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905750" y="2705100"/>
            <a:ext cx="1085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AI陪伴</a:t>
            </a: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905750" y="3067050"/>
            <a:ext cx="1085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留存</a:t>
            </a: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201150" y="278130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0">
                <a:solidFill>
                  <a:srgbClr val="CBD5E1"/>
                </a:solidFill>
              </a:defRPr>
            </a:pPr>
            <a:r>
              <a:rPr sz="2100" b="0">
                <a:solidFill>
                  <a:srgbClr val="CBD5E1"/>
                </a:solidFill>
              </a:rPr>
              <a:t>→</a:t>
            </a: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9486900" y="2438400"/>
            <a:ext cx="1428750" cy="1066800"/>
          </a:xfrm>
          <a:prstGeom prst="roundRect">
            <a:avLst>
              <a:gd name="adj" fmla="val 7143"/>
            </a:avLst>
          </a:prstGeom>
          <a:solidFill>
            <a:srgbClr val="F3F4F6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9658350" y="2705100"/>
            <a:ext cx="1085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会员生态</a:t>
            </a: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9658350" y="3067050"/>
            <a:ext cx="1085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复购</a:t>
            </a: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066800" y="4400550"/>
            <a:ext cx="9334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关键不是先宣布平台，而是让平台从可复购的产品、可记录的数据和可扩展的服务中自然长出来。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514350" y="438150"/>
            <a:ext cx="857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增长飞轮要围绕家庭成长结果，而不是围绕流量投放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10287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裂变来自可见改变；订阅来自持续陪伴；壁垒来自数据越用越准。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1428750"/>
            <a:ext cx="111252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14350" y="640080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榜样教育AI成长平台战略汇报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144250" y="63817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10</a:t>
            </a: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5086350" y="1771650"/>
            <a:ext cx="14859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200650" y="1933575"/>
            <a:ext cx="1257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用户进入</a:t>
            </a: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7067550" y="2571750"/>
            <a:ext cx="14859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905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181850" y="2733675"/>
            <a:ext cx="1257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EA5E9"/>
                </a:solidFill>
              </a:defRPr>
            </a:pPr>
            <a:r>
              <a:rPr sz="1500" b="1">
                <a:solidFill>
                  <a:srgbClr val="0EA5E9"/>
                </a:solidFill>
              </a:rPr>
              <a:t>课程学习</a:t>
            </a: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7067550" y="4000500"/>
            <a:ext cx="14859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181850" y="4162425"/>
            <a:ext cx="1257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59669"/>
                </a:solidFill>
              </a:defRPr>
            </a:pPr>
            <a:r>
              <a:rPr sz="1500" b="1">
                <a:solidFill>
                  <a:srgbClr val="059669"/>
                </a:solidFill>
              </a:rPr>
              <a:t>行为改变</a:t>
            </a: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5086350" y="4838700"/>
            <a:ext cx="14859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5200650" y="5000625"/>
            <a:ext cx="1257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D97706"/>
                </a:solidFill>
              </a:defRPr>
            </a:pPr>
            <a:r>
              <a:rPr sz="1500" b="1">
                <a:solidFill>
                  <a:srgbClr val="D97706"/>
                </a:solidFill>
              </a:rPr>
              <a:t>成长数据</a:t>
            </a: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3105150" y="4000500"/>
            <a:ext cx="14859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905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3219450" y="4162425"/>
            <a:ext cx="1257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EA5E9"/>
                </a:solidFill>
              </a:defRPr>
            </a:pPr>
            <a:r>
              <a:rPr sz="1500" b="1">
                <a:solidFill>
                  <a:srgbClr val="0EA5E9"/>
                </a:solidFill>
              </a:rPr>
              <a:t>AI更精准</a:t>
            </a: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3105150" y="2571750"/>
            <a:ext cx="14859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3219450" y="2733675"/>
            <a:ext cx="1257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59669"/>
                </a:solidFill>
              </a:defRPr>
            </a:pPr>
            <a:r>
              <a:rPr sz="1500" b="1">
                <a:solidFill>
                  <a:srgbClr val="059669"/>
                </a:solidFill>
              </a:rPr>
              <a:t>体验更好</a:t>
            </a: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534150" y="2152650"/>
            <a:ext cx="38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0">
                <a:solidFill>
                  <a:srgbClr val="CBD5E1"/>
                </a:solidFill>
              </a:defRPr>
            </a:pPr>
            <a:r>
              <a:rPr sz="2250" b="0">
                <a:solidFill>
                  <a:srgbClr val="CBD5E1"/>
                </a:solidFill>
              </a:rPr>
              <a:t>→</a:t>
            </a: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581900" y="3333750"/>
            <a:ext cx="38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0">
                <a:solidFill>
                  <a:srgbClr val="CBD5E1"/>
                </a:solidFill>
              </a:defRPr>
            </a:pPr>
            <a:r>
              <a:rPr sz="2250" b="0">
                <a:solidFill>
                  <a:srgbClr val="CBD5E1"/>
                </a:solidFill>
              </a:rPr>
              <a:t>↓</a:t>
            </a: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534150" y="4629150"/>
            <a:ext cx="38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0">
                <a:solidFill>
                  <a:srgbClr val="CBD5E1"/>
                </a:solidFill>
              </a:defRPr>
            </a:pPr>
            <a:r>
              <a:rPr sz="2250" b="0">
                <a:solidFill>
                  <a:srgbClr val="CBD5E1"/>
                </a:solidFill>
              </a:rPr>
              <a:t>←</a:t>
            </a: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3638550" y="3333750"/>
            <a:ext cx="38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0">
                <a:solidFill>
                  <a:srgbClr val="CBD5E1"/>
                </a:solidFill>
              </a:defRPr>
            </a:pPr>
            <a:r>
              <a:rPr sz="2250" b="0">
                <a:solidFill>
                  <a:srgbClr val="CBD5E1"/>
                </a:solidFill>
              </a:rPr>
              <a:t>↑</a:t>
            </a: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105400" y="3409950"/>
            <a:ext cx="1466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更多家庭进入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514350" y="438150"/>
            <a:ext cx="857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产品矩阵要覆盖家长、孩子、家庭关系和AI陪伴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10287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真正的平台不是单一课程，而是多角色、多场景、多周期产品组合。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1428750"/>
            <a:ext cx="111252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14350" y="640080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榜样教育AI成长平台战略汇报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144250" y="63817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11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1809750"/>
            <a:ext cx="10972800" cy="495300"/>
          </a:xfrm>
          <a:prstGeom prst="rect">
            <a:avLst/>
          </a:prstGeom>
          <a:solidFill>
            <a:srgbClr val="0B1220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193357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产品线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3486150" y="193357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目标用户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229350" y="193357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核心价值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972550" y="193357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收入逻辑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09600" y="2305050"/>
            <a:ext cx="10972800" cy="55245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42950" y="24288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家长成长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486150" y="24288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父母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229350" y="24288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教育认知与沟通方法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972550" y="24288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课程+会员</a:t>
            </a: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09600" y="2857500"/>
            <a:ext cx="109728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42950" y="29813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孩子成长</a:t>
            </a: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3486150" y="29813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孩子</a:t>
            </a: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229350" y="29813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习惯、动力、表达、自驱</a:t>
            </a: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972550" y="29813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训练营+陪练</a:t>
            </a: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09600" y="3409950"/>
            <a:ext cx="10972800" cy="55245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42950" y="35337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家庭关系</a:t>
            </a: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3486150" y="35337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家庭</a:t>
            </a: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229350" y="35337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亲子沟通与共同任务</a:t>
            </a: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972550" y="35337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服务包</a:t>
            </a: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09600" y="3962400"/>
            <a:ext cx="109728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42950" y="40862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AI陪伴</a:t>
            </a: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3486150" y="40862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全家</a:t>
            </a: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229350" y="40862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每日反馈与成长计划</a:t>
            </a: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972550" y="40862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年订阅</a:t>
            </a: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609600" y="4514850"/>
            <a:ext cx="10972800" cy="55245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742950" y="46386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数据产品</a:t>
            </a: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3486150" y="46386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家庭/机构</a:t>
            </a: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6229350" y="46386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成长画像与报告</a:t>
            </a: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8972550" y="46386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会员+合作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514350" y="438150"/>
            <a:ext cx="857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爆款产品要先解决一个高频、刚需、可见效问题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10287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建议把第一阶段资源集中到“家长训练营 + AI陪练 + 成长报告”的组合。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1428750"/>
            <a:ext cx="111252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14350" y="640080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榜样教育AI成长平台战略汇报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144250" y="63817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12</a:t>
            </a: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685800" y="1924050"/>
            <a:ext cx="3143250" cy="3067050"/>
          </a:xfrm>
          <a:prstGeom prst="roundRect">
            <a:avLst>
              <a:gd name="adj" fmla="val 2484"/>
            </a:avLst>
          </a:prstGeom>
          <a:solidFill>
            <a:srgbClr val="F3F4F6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33450" y="2209800"/>
            <a:ext cx="2628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2563EB"/>
                </a:solidFill>
              </a:defRPr>
            </a:pPr>
            <a:r>
              <a:rPr sz="1950" b="1">
                <a:solidFill>
                  <a:srgbClr val="2563EB"/>
                </a:solidFill>
              </a:rPr>
              <a:t>高频痛点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33450" y="2838450"/>
            <a:ext cx="26289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亲子沟通、学习习惯、手机管理、自驱力不足。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33450" y="4248150"/>
            <a:ext cx="2628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容易获客</a:t>
            </a: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4362450" y="1924050"/>
            <a:ext cx="3143250" cy="3067050"/>
          </a:xfrm>
          <a:prstGeom prst="roundRect">
            <a:avLst>
              <a:gd name="adj" fmla="val 2484"/>
            </a:avLst>
          </a:prstGeom>
          <a:solidFill>
            <a:srgbClr val="F3F4F6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610100" y="2209800"/>
            <a:ext cx="2628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059669"/>
                </a:solidFill>
              </a:defRPr>
            </a:pPr>
            <a:r>
              <a:rPr sz="1950" b="1">
                <a:solidFill>
                  <a:srgbClr val="059669"/>
                </a:solidFill>
              </a:rPr>
              <a:t>可见变化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610100" y="2838450"/>
            <a:ext cx="26289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通过任务、打卡、反馈，让家长看到行为改变。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610100" y="4248150"/>
            <a:ext cx="2628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容易复购</a:t>
            </a: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8039100" y="1924050"/>
            <a:ext cx="3143250" cy="3067050"/>
          </a:xfrm>
          <a:prstGeom prst="roundRect">
            <a:avLst>
              <a:gd name="adj" fmla="val 2484"/>
            </a:avLst>
          </a:prstGeom>
          <a:solidFill>
            <a:srgbClr val="F3F4F6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286750" y="2209800"/>
            <a:ext cx="2628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D97706"/>
                </a:solidFill>
              </a:defRPr>
            </a:pPr>
            <a:r>
              <a:rPr sz="1950" b="1">
                <a:solidFill>
                  <a:srgbClr val="D97706"/>
                </a:solidFill>
              </a:rPr>
              <a:t>可数据化</a:t>
            </a: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286750" y="2838450"/>
            <a:ext cx="26289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每次作业、反馈、关系变化都进入成长档案。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286750" y="4248150"/>
            <a:ext cx="2628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形成壁垒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514350" y="438150"/>
            <a:ext cx="857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交付系统的目标：从依赖名师升级为复制型组织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10287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课程、助教、运营、评估、复购都要被流程化和数据化。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1428750"/>
            <a:ext cx="111252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14350" y="640080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榜样教育AI成长平台战略汇报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144250" y="63817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13</a:t>
            </a: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723900" y="2438400"/>
            <a:ext cx="1428750" cy="1066800"/>
          </a:xfrm>
          <a:prstGeom prst="roundRect">
            <a:avLst>
              <a:gd name="adj" fmla="val 7143"/>
            </a:avLst>
          </a:prstGeom>
          <a:solidFill>
            <a:srgbClr val="DBEAFE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95350" y="2705100"/>
            <a:ext cx="1085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课程SOP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95350" y="3067050"/>
            <a:ext cx="1085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内容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190750" y="278130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0">
                <a:solidFill>
                  <a:srgbClr val="CBD5E1"/>
                </a:solidFill>
              </a:defRPr>
            </a:pPr>
            <a:r>
              <a:rPr sz="2100" b="0">
                <a:solidFill>
                  <a:srgbClr val="CBD5E1"/>
                </a:solidFill>
              </a:rPr>
              <a:t>→</a:t>
            </a: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2476500" y="2438400"/>
            <a:ext cx="1428750" cy="1066800"/>
          </a:xfrm>
          <a:prstGeom prst="roundRect">
            <a:avLst>
              <a:gd name="adj" fmla="val 7143"/>
            </a:avLst>
          </a:prstGeom>
          <a:solidFill>
            <a:srgbClr val="F3F4F6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647950" y="2705100"/>
            <a:ext cx="1085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助教SOP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647950" y="3067050"/>
            <a:ext cx="1085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陪伴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943350" y="278130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0">
                <a:solidFill>
                  <a:srgbClr val="CBD5E1"/>
                </a:solidFill>
              </a:defRPr>
            </a:pPr>
            <a:r>
              <a:rPr sz="2100" b="0">
                <a:solidFill>
                  <a:srgbClr val="CBD5E1"/>
                </a:solidFill>
              </a:rPr>
              <a:t>→</a:t>
            </a: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4229100" y="2438400"/>
            <a:ext cx="1428750" cy="1066800"/>
          </a:xfrm>
          <a:prstGeom prst="roundRect">
            <a:avLst>
              <a:gd name="adj" fmla="val 7143"/>
            </a:avLst>
          </a:prstGeom>
          <a:solidFill>
            <a:srgbClr val="F3F4F6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400550" y="2705100"/>
            <a:ext cx="1085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运营SOP</a:t>
            </a: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400550" y="3067050"/>
            <a:ext cx="1085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触达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5695950" y="278130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0">
                <a:solidFill>
                  <a:srgbClr val="CBD5E1"/>
                </a:solidFill>
              </a:defRPr>
            </a:pPr>
            <a:r>
              <a:rPr sz="2100" b="0">
                <a:solidFill>
                  <a:srgbClr val="CBD5E1"/>
                </a:solidFill>
              </a:rPr>
              <a:t>→</a:t>
            </a: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5981700" y="2438400"/>
            <a:ext cx="1428750" cy="1066800"/>
          </a:xfrm>
          <a:prstGeom prst="roundRect">
            <a:avLst>
              <a:gd name="adj" fmla="val 7143"/>
            </a:avLst>
          </a:prstGeom>
          <a:solidFill>
            <a:srgbClr val="F3F4F6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153150" y="2705100"/>
            <a:ext cx="1085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评估SOP</a:t>
            </a: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153150" y="3067050"/>
            <a:ext cx="1085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反馈</a:t>
            </a: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448550" y="278130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0">
                <a:solidFill>
                  <a:srgbClr val="CBD5E1"/>
                </a:solidFill>
              </a:defRPr>
            </a:pPr>
            <a:r>
              <a:rPr sz="2100" b="0">
                <a:solidFill>
                  <a:srgbClr val="CBD5E1"/>
                </a:solidFill>
              </a:rPr>
              <a:t>→</a:t>
            </a: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7734300" y="2438400"/>
            <a:ext cx="1428750" cy="1066800"/>
          </a:xfrm>
          <a:prstGeom prst="roundRect">
            <a:avLst>
              <a:gd name="adj" fmla="val 7143"/>
            </a:avLst>
          </a:prstGeom>
          <a:solidFill>
            <a:srgbClr val="F3F4F6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905750" y="2705100"/>
            <a:ext cx="1085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复购SOP</a:t>
            </a: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905750" y="3067050"/>
            <a:ext cx="1085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增长</a:t>
            </a: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201150" y="278130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0">
                <a:solidFill>
                  <a:srgbClr val="CBD5E1"/>
                </a:solidFill>
              </a:defRPr>
            </a:pPr>
            <a:r>
              <a:rPr sz="2100" b="0">
                <a:solidFill>
                  <a:srgbClr val="CBD5E1"/>
                </a:solidFill>
              </a:rPr>
              <a:t>→</a:t>
            </a: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9486900" y="2438400"/>
            <a:ext cx="1428750" cy="1066800"/>
          </a:xfrm>
          <a:prstGeom prst="roundRect">
            <a:avLst>
              <a:gd name="adj" fmla="val 7143"/>
            </a:avLst>
          </a:prstGeom>
          <a:solidFill>
            <a:srgbClr val="F3F4F6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9658350" y="2705100"/>
            <a:ext cx="1085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质检SOP</a:t>
            </a: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9658350" y="3067050"/>
            <a:ext cx="1085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稳定</a:t>
            </a: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066800" y="4400550"/>
            <a:ext cx="9334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关键不是先宣布平台，而是让平台从可复购的产品、可记录的数据和可扩展的服务中自然长出来。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514350" y="438150"/>
            <a:ext cx="857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交付质量要用指标管理，不能只靠主观满意度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10287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家庭教育的交付必须同时看学习完成、行为改变、关系改善和续费意愿。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1428750"/>
            <a:ext cx="111252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14350" y="640080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榜样教育AI成长平台战略汇报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144250" y="63817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14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1809750"/>
            <a:ext cx="10972800" cy="495300"/>
          </a:xfrm>
          <a:prstGeom prst="rect">
            <a:avLst/>
          </a:prstGeom>
          <a:solidFill>
            <a:srgbClr val="0B1220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193357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模块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3486150" y="193357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关键动作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229350" y="193357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衡量指标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972550" y="193357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负责人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09600" y="2305050"/>
            <a:ext cx="10972800" cy="55245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42950" y="24288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课程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486150" y="24288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标准课件与任务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229350" y="24288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完课率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972550" y="24288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教研</a:t>
            </a: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09600" y="2857500"/>
            <a:ext cx="109728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42950" y="29813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助教</a:t>
            </a: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3486150" y="29813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每日提醒与反馈</a:t>
            </a: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229350" y="29813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打卡率</a:t>
            </a: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972550" y="29813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交付</a:t>
            </a: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09600" y="3409950"/>
            <a:ext cx="10972800" cy="55245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42950" y="35337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评估</a:t>
            </a: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3486150" y="35337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成长测评与报告</a:t>
            </a: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229350" y="35337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画像完整度</a:t>
            </a: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972550" y="35337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数据</a:t>
            </a: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09600" y="3962400"/>
            <a:ext cx="109728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42950" y="40862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运营</a:t>
            </a: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3486150" y="40862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社群陪伴与活动</a:t>
            </a: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229350" y="40862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活跃率</a:t>
            </a: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972550" y="40862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用户运营</a:t>
            </a: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609600" y="4514850"/>
            <a:ext cx="10972800" cy="55245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742950" y="46386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复购</a:t>
            </a: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3486150" y="46386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阶段成果展示</a:t>
            </a: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6229350" y="46386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续费率</a:t>
            </a: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8972550" y="46386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商业化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685800" y="6858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核心判断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581150"/>
            <a:ext cx="95250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525" b="1">
                <a:solidFill>
                  <a:srgbClr val="111827"/>
                </a:solidFill>
              </a:defRPr>
            </a:pPr>
            <a:r>
              <a:rPr sz="3525" b="1">
                <a:solidFill>
                  <a:srgbClr val="111827"/>
                </a:solidFill>
              </a:rPr>
              <a:t>AI应该放在交付闭环里，而不是放在品牌第一句里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23900" y="3905250"/>
            <a:ext cx="8667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475569"/>
                </a:solidFill>
              </a:defRPr>
            </a:pPr>
            <a:r>
              <a:rPr sz="1800" b="0">
                <a:solidFill>
                  <a:srgbClr val="475569"/>
                </a:solidFill>
              </a:rPr>
              <a:t>AI最有价值的位置，是帮助家庭每天完成任务、获得反馈、形成记录，并让下一次方案更精准。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5143500"/>
            <a:ext cx="809625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14350" y="640080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榜样教育AI成长平台战略汇报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144250" y="63817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514350" y="438150"/>
            <a:ext cx="857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AI平台架构：知识库、画像、Agent与数据中台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10287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技术架构要服务产品闭环，而不是堆技术名词。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1428750"/>
            <a:ext cx="111252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14350" y="640080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榜样教育AI成长平台战略汇报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144250" y="63817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16</a:t>
            </a: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723900" y="2438400"/>
            <a:ext cx="1428750" cy="1066800"/>
          </a:xfrm>
          <a:prstGeom prst="roundRect">
            <a:avLst>
              <a:gd name="adj" fmla="val 7143"/>
            </a:avLst>
          </a:prstGeom>
          <a:solidFill>
            <a:srgbClr val="DBEAFE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95350" y="2705100"/>
            <a:ext cx="1085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知识库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95350" y="3067050"/>
            <a:ext cx="1085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内容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190750" y="278130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0">
                <a:solidFill>
                  <a:srgbClr val="CBD5E1"/>
                </a:solidFill>
              </a:defRPr>
            </a:pPr>
            <a:r>
              <a:rPr sz="2100" b="0">
                <a:solidFill>
                  <a:srgbClr val="CBD5E1"/>
                </a:solidFill>
              </a:rPr>
              <a:t>→</a:t>
            </a: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2476500" y="2438400"/>
            <a:ext cx="1428750" cy="1066800"/>
          </a:xfrm>
          <a:prstGeom prst="roundRect">
            <a:avLst>
              <a:gd name="adj" fmla="val 7143"/>
            </a:avLst>
          </a:prstGeom>
          <a:solidFill>
            <a:srgbClr val="F3F4F6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647950" y="2705100"/>
            <a:ext cx="1085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用户画像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647950" y="3067050"/>
            <a:ext cx="1085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理解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943350" y="278130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0">
                <a:solidFill>
                  <a:srgbClr val="CBD5E1"/>
                </a:solidFill>
              </a:defRPr>
            </a:pPr>
            <a:r>
              <a:rPr sz="2100" b="0">
                <a:solidFill>
                  <a:srgbClr val="CBD5E1"/>
                </a:solidFill>
              </a:rPr>
              <a:t>→</a:t>
            </a: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4229100" y="2438400"/>
            <a:ext cx="1428750" cy="1066800"/>
          </a:xfrm>
          <a:prstGeom prst="roundRect">
            <a:avLst>
              <a:gd name="adj" fmla="val 7143"/>
            </a:avLst>
          </a:prstGeom>
          <a:solidFill>
            <a:srgbClr val="F3F4F6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400550" y="2705100"/>
            <a:ext cx="1085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成长规划</a:t>
            </a: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400550" y="3067050"/>
            <a:ext cx="1085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方案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5695950" y="278130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0">
                <a:solidFill>
                  <a:srgbClr val="CBD5E1"/>
                </a:solidFill>
              </a:defRPr>
            </a:pPr>
            <a:r>
              <a:rPr sz="2100" b="0">
                <a:solidFill>
                  <a:srgbClr val="CBD5E1"/>
                </a:solidFill>
              </a:rPr>
              <a:t>→</a:t>
            </a: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5981700" y="2438400"/>
            <a:ext cx="1428750" cy="1066800"/>
          </a:xfrm>
          <a:prstGeom prst="roundRect">
            <a:avLst>
              <a:gd name="adj" fmla="val 7143"/>
            </a:avLst>
          </a:prstGeom>
          <a:solidFill>
            <a:srgbClr val="F3F4F6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153150" y="2705100"/>
            <a:ext cx="1085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陪练执行</a:t>
            </a: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153150" y="3067050"/>
            <a:ext cx="1085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任务</a:t>
            </a: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448550" y="278130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0">
                <a:solidFill>
                  <a:srgbClr val="CBD5E1"/>
                </a:solidFill>
              </a:defRPr>
            </a:pPr>
            <a:r>
              <a:rPr sz="2100" b="0">
                <a:solidFill>
                  <a:srgbClr val="CBD5E1"/>
                </a:solidFill>
              </a:rPr>
              <a:t>→</a:t>
            </a: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7734300" y="2438400"/>
            <a:ext cx="1428750" cy="1066800"/>
          </a:xfrm>
          <a:prstGeom prst="roundRect">
            <a:avLst>
              <a:gd name="adj" fmla="val 7143"/>
            </a:avLst>
          </a:prstGeom>
          <a:solidFill>
            <a:srgbClr val="F3F4F6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905750" y="2705100"/>
            <a:ext cx="1085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督导反馈</a:t>
            </a: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905750" y="3067050"/>
            <a:ext cx="1085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预警</a:t>
            </a: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201150" y="278130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0">
                <a:solidFill>
                  <a:srgbClr val="CBD5E1"/>
                </a:solidFill>
              </a:defRPr>
            </a:pPr>
            <a:r>
              <a:rPr sz="2100" b="0">
                <a:solidFill>
                  <a:srgbClr val="CBD5E1"/>
                </a:solidFill>
              </a:rPr>
              <a:t>→</a:t>
            </a: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9486900" y="2438400"/>
            <a:ext cx="1428750" cy="1066800"/>
          </a:xfrm>
          <a:prstGeom prst="roundRect">
            <a:avLst>
              <a:gd name="adj" fmla="val 7143"/>
            </a:avLst>
          </a:prstGeom>
          <a:solidFill>
            <a:srgbClr val="F3F4F6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9658350" y="2705100"/>
            <a:ext cx="1085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数据中台</a:t>
            </a: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9658350" y="3067050"/>
            <a:ext cx="1085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学习</a:t>
            </a: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066800" y="4400550"/>
            <a:ext cx="9334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关键不是先宣布平台，而是让平台从可复购的产品、可记录的数据和可扩展的服务中自然长出来。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514350" y="438150"/>
            <a:ext cx="857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AI Agent体系要按真实场景设计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10287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每个Agent都必须绑定一个用户任务和一个可衡量结果。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1428750"/>
            <a:ext cx="111252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14350" y="640080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榜样教育AI成长平台战略汇报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144250" y="63817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17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1809750"/>
            <a:ext cx="10972800" cy="495300"/>
          </a:xfrm>
          <a:prstGeom prst="rect">
            <a:avLst/>
          </a:prstGeom>
          <a:solidFill>
            <a:srgbClr val="0B1220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193357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3486150" y="193357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服务对象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229350" y="193357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核心任务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972550" y="193357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输出物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09600" y="2305050"/>
            <a:ext cx="10972800" cy="55245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42950" y="24288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家长顾问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486150" y="24288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父母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229350" y="24288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解释问题与建议话术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972550" y="24288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沟通方案</a:t>
            </a: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09600" y="2857500"/>
            <a:ext cx="109728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42950" y="29813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孩子陪练</a:t>
            </a: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3486150" y="29813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孩子</a:t>
            </a: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229350" y="29813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任务提醒与行为鼓励</a:t>
            </a: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972550" y="29813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成长任务</a:t>
            </a: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09600" y="3409950"/>
            <a:ext cx="10972800" cy="55245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42950" y="35337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助教助手</a:t>
            </a: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3486150" y="35337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交付团队</a:t>
            </a: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229350" y="35337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批改、点评、预警</a:t>
            </a: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972550" y="35337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服务建议</a:t>
            </a: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09600" y="3962400"/>
            <a:ext cx="109728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42950" y="40862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成长规划师</a:t>
            </a: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3486150" y="40862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家庭</a:t>
            </a: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229350" y="40862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阶段目标与路径</a:t>
            </a: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972550" y="40862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成长计划</a:t>
            </a: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609600" y="4514850"/>
            <a:ext cx="10972800" cy="55245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742950" y="46386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经营助手</a:t>
            </a: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3486150" y="46386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管理层</a:t>
            </a: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6229350" y="46386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用户、收入、交付分析</a:t>
            </a: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8972550" y="46386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经营看板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685800" y="6858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核心判断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581150"/>
            <a:ext cx="95250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525" b="1">
                <a:solidFill>
                  <a:srgbClr val="111827"/>
                </a:solidFill>
              </a:defRPr>
            </a:pPr>
            <a:r>
              <a:rPr sz="3525" b="1">
                <a:solidFill>
                  <a:srgbClr val="111827"/>
                </a:solidFill>
              </a:rPr>
              <a:t>真正的护城河是家庭成长数据库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23900" y="3905250"/>
            <a:ext cx="8667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475569"/>
                </a:solidFill>
              </a:defRPr>
            </a:pPr>
            <a:r>
              <a:rPr sz="1800" b="0">
                <a:solidFill>
                  <a:srgbClr val="475569"/>
                </a:solidFill>
              </a:rPr>
              <a:t>当系统持续记录父母、孩子、家庭互动和改变路径，AI才会越用越懂家庭，产品才会越用越准。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5143500"/>
            <a:ext cx="809625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14350" y="640080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榜样教育AI成长平台战略汇报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144250" y="63817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514350" y="438150"/>
            <a:ext cx="857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数据资产不是口号，必须从第一天设计采集结构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10287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没有结构化数据，AI只是客服；有高质量数据，AI才能成为成长操作系统。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1428750"/>
            <a:ext cx="111252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14350" y="640080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榜样教育AI成长平台战略汇报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144250" y="63817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19</a:t>
            </a: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685800" y="1924050"/>
            <a:ext cx="3143250" cy="3067050"/>
          </a:xfrm>
          <a:prstGeom prst="roundRect">
            <a:avLst>
              <a:gd name="adj" fmla="val 2484"/>
            </a:avLst>
          </a:prstGeom>
          <a:solidFill>
            <a:srgbClr val="F3F4F6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33450" y="2209800"/>
            <a:ext cx="2628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2563EB"/>
                </a:solidFill>
              </a:defRPr>
            </a:pPr>
            <a:r>
              <a:rPr sz="1950" b="1">
                <a:solidFill>
                  <a:srgbClr val="2563EB"/>
                </a:solidFill>
              </a:rPr>
              <a:t>父母画像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33450" y="2838450"/>
            <a:ext cx="26289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教育方式、沟通风格、焦虑点、参与度。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33450" y="4248150"/>
            <a:ext cx="2628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理解决策者</a:t>
            </a: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4362450" y="1924050"/>
            <a:ext cx="3143250" cy="3067050"/>
          </a:xfrm>
          <a:prstGeom prst="roundRect">
            <a:avLst>
              <a:gd name="adj" fmla="val 2484"/>
            </a:avLst>
          </a:prstGeom>
          <a:solidFill>
            <a:srgbClr val="F3F4F6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610100" y="2209800"/>
            <a:ext cx="2628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059669"/>
                </a:solidFill>
              </a:defRPr>
            </a:pPr>
            <a:r>
              <a:rPr sz="1950" b="1">
                <a:solidFill>
                  <a:srgbClr val="059669"/>
                </a:solidFill>
              </a:rPr>
              <a:t>孩子画像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610100" y="2838450"/>
            <a:ext cx="26289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习惯、兴趣、动力、行为变化、情绪状态。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610100" y="4248150"/>
            <a:ext cx="2628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理解成长对象</a:t>
            </a: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8039100" y="1924050"/>
            <a:ext cx="3143250" cy="3067050"/>
          </a:xfrm>
          <a:prstGeom prst="roundRect">
            <a:avLst>
              <a:gd name="adj" fmla="val 2484"/>
            </a:avLst>
          </a:prstGeom>
          <a:solidFill>
            <a:srgbClr val="F3F4F6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286750" y="2209800"/>
            <a:ext cx="2628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D97706"/>
                </a:solidFill>
              </a:defRPr>
            </a:pPr>
            <a:r>
              <a:rPr sz="1950" b="1">
                <a:solidFill>
                  <a:srgbClr val="D97706"/>
                </a:solidFill>
              </a:rPr>
              <a:t>家庭画像</a:t>
            </a: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286750" y="2838450"/>
            <a:ext cx="26289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互动频率、冲突类型、任务完成、改善路径。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286750" y="4248150"/>
            <a:ext cx="2628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理解关系系统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514350" y="438150"/>
            <a:ext cx="857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增长策略不能依赖高额投流，要靠内容、私域、交付和裂变联动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10287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家庭教育的增长基础是信任，最强裂变来自真实改变被看见。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1428750"/>
            <a:ext cx="111252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14350" y="640080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榜样教育AI成长平台战略汇报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144250" y="63817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20</a:t>
            </a: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723900" y="2438400"/>
            <a:ext cx="1428750" cy="1066800"/>
          </a:xfrm>
          <a:prstGeom prst="roundRect">
            <a:avLst>
              <a:gd name="adj" fmla="val 7143"/>
            </a:avLst>
          </a:prstGeom>
          <a:solidFill>
            <a:srgbClr val="DBEAFE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95350" y="2705100"/>
            <a:ext cx="1085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内容获客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95350" y="3067050"/>
            <a:ext cx="1085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认知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190750" y="278130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0">
                <a:solidFill>
                  <a:srgbClr val="CBD5E1"/>
                </a:solidFill>
              </a:defRPr>
            </a:pPr>
            <a:r>
              <a:rPr sz="2100" b="0">
                <a:solidFill>
                  <a:srgbClr val="CBD5E1"/>
                </a:solidFill>
              </a:rPr>
              <a:t>→</a:t>
            </a: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2476500" y="2438400"/>
            <a:ext cx="1428750" cy="1066800"/>
          </a:xfrm>
          <a:prstGeom prst="roundRect">
            <a:avLst>
              <a:gd name="adj" fmla="val 7143"/>
            </a:avLst>
          </a:prstGeom>
          <a:solidFill>
            <a:srgbClr val="F3F4F6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647950" y="2705100"/>
            <a:ext cx="1085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直播转化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647950" y="3067050"/>
            <a:ext cx="1085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信任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943350" y="278130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0">
                <a:solidFill>
                  <a:srgbClr val="CBD5E1"/>
                </a:solidFill>
              </a:defRPr>
            </a:pPr>
            <a:r>
              <a:rPr sz="2100" b="0">
                <a:solidFill>
                  <a:srgbClr val="CBD5E1"/>
                </a:solidFill>
              </a:rPr>
              <a:t>→</a:t>
            </a: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4229100" y="2438400"/>
            <a:ext cx="1428750" cy="1066800"/>
          </a:xfrm>
          <a:prstGeom prst="roundRect">
            <a:avLst>
              <a:gd name="adj" fmla="val 7143"/>
            </a:avLst>
          </a:prstGeom>
          <a:solidFill>
            <a:srgbClr val="F3F4F6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400550" y="2705100"/>
            <a:ext cx="1085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社群交付</a:t>
            </a: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400550" y="3067050"/>
            <a:ext cx="1085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陪伴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5695950" y="278130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0">
                <a:solidFill>
                  <a:srgbClr val="CBD5E1"/>
                </a:solidFill>
              </a:defRPr>
            </a:pPr>
            <a:r>
              <a:rPr sz="2100" b="0">
                <a:solidFill>
                  <a:srgbClr val="CBD5E1"/>
                </a:solidFill>
              </a:rPr>
              <a:t>→</a:t>
            </a: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5981700" y="2438400"/>
            <a:ext cx="1428750" cy="1066800"/>
          </a:xfrm>
          <a:prstGeom prst="roundRect">
            <a:avLst>
              <a:gd name="adj" fmla="val 7143"/>
            </a:avLst>
          </a:prstGeom>
          <a:solidFill>
            <a:srgbClr val="F3F4F6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153150" y="2705100"/>
            <a:ext cx="1085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成果展示</a:t>
            </a: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153150" y="3067050"/>
            <a:ext cx="1085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复购</a:t>
            </a: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448550" y="278130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0">
                <a:solidFill>
                  <a:srgbClr val="CBD5E1"/>
                </a:solidFill>
              </a:defRPr>
            </a:pPr>
            <a:r>
              <a:rPr sz="2100" b="0">
                <a:solidFill>
                  <a:srgbClr val="CBD5E1"/>
                </a:solidFill>
              </a:rPr>
              <a:t>→</a:t>
            </a: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7734300" y="2438400"/>
            <a:ext cx="1428750" cy="1066800"/>
          </a:xfrm>
          <a:prstGeom prst="roundRect">
            <a:avLst>
              <a:gd name="adj" fmla="val 7143"/>
            </a:avLst>
          </a:prstGeom>
          <a:solidFill>
            <a:srgbClr val="F3F4F6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905750" y="2705100"/>
            <a:ext cx="1085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用户推荐</a:t>
            </a: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905750" y="3067050"/>
            <a:ext cx="1085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裂变</a:t>
            </a: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201150" y="278130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0">
                <a:solidFill>
                  <a:srgbClr val="CBD5E1"/>
                </a:solidFill>
              </a:defRPr>
            </a:pPr>
            <a:r>
              <a:rPr sz="2100" b="0">
                <a:solidFill>
                  <a:srgbClr val="CBD5E1"/>
                </a:solidFill>
              </a:rPr>
              <a:t>→</a:t>
            </a: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9486900" y="2438400"/>
            <a:ext cx="1428750" cy="1066800"/>
          </a:xfrm>
          <a:prstGeom prst="roundRect">
            <a:avLst>
              <a:gd name="adj" fmla="val 7143"/>
            </a:avLst>
          </a:prstGeom>
          <a:solidFill>
            <a:srgbClr val="F3F4F6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9658350" y="2705100"/>
            <a:ext cx="1085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会员沉淀</a:t>
            </a: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9658350" y="3067050"/>
            <a:ext cx="1085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长期</a:t>
            </a: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066800" y="4400550"/>
            <a:ext cx="9334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关键不是先宣布平台，而是让平台从可复购的产品、可记录的数据和可扩展的服务中自然长出来。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514350" y="438150"/>
            <a:ext cx="857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增长指标要从线索数量升级为用户质量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10287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低质量流量会拖垮交付，高质量家庭样本才会推动数据和口碑复利。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1428750"/>
            <a:ext cx="111252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14350" y="640080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榜样教育AI成长平台战略汇报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144250" y="63817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21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1809750"/>
            <a:ext cx="10972800" cy="495300"/>
          </a:xfrm>
          <a:prstGeom prst="rect">
            <a:avLst/>
          </a:prstGeom>
          <a:solidFill>
            <a:srgbClr val="0B1220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193357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阶段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3486150" y="193357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关键指标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229350" y="193357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目标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972550" y="193357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管理重点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09600" y="2305050"/>
            <a:ext cx="10972800" cy="55245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42950" y="24288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获客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486150" y="24288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有效线索率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229350" y="24288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30%+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972550" y="24288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内容精准度</a:t>
            </a: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09600" y="2857500"/>
            <a:ext cx="109728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42950" y="29813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转化</a:t>
            </a: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3486150" y="29813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体验课转化率</a:t>
            </a: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229350" y="29813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15-25%</a:t>
            </a: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972550" y="29813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信任建立</a:t>
            </a: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09600" y="3409950"/>
            <a:ext cx="10972800" cy="55245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42950" y="35337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交付</a:t>
            </a: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3486150" y="35337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任务完成率</a:t>
            </a: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229350" y="35337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70%+</a:t>
            </a: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972550" y="35337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助教陪伴</a:t>
            </a: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09600" y="3962400"/>
            <a:ext cx="109728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42950" y="40862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复购</a:t>
            </a: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3486150" y="40862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阶段续费率</a:t>
            </a: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229350" y="40862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30%+</a:t>
            </a: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972550" y="40862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成果呈现</a:t>
            </a: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609600" y="4514850"/>
            <a:ext cx="10972800" cy="55245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742950" y="46386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裂变</a:t>
            </a: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3486150" y="46386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转介绍占比</a:t>
            </a: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6229350" y="46386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20%+</a:t>
            </a: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8972550" y="46386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口碑机制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514350" y="438150"/>
            <a:ext cx="857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组织要围绕产品化、数据化和AI协同重建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10287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如果组织仍按传统课程公司运转，战略会停在PPT里。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1428750"/>
            <a:ext cx="111252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14350" y="640080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榜样教育AI成长平台战略汇报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144250" y="63817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22</a:t>
            </a: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685800" y="1924050"/>
            <a:ext cx="3143250" cy="3067050"/>
          </a:xfrm>
          <a:prstGeom prst="roundRect">
            <a:avLst>
              <a:gd name="adj" fmla="val 2484"/>
            </a:avLst>
          </a:prstGeom>
          <a:solidFill>
            <a:srgbClr val="F3F4F6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33450" y="2209800"/>
            <a:ext cx="2628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2563EB"/>
                </a:solidFill>
              </a:defRPr>
            </a:pPr>
            <a:r>
              <a:rPr sz="1950" b="1">
                <a:solidFill>
                  <a:srgbClr val="2563EB"/>
                </a:solidFill>
              </a:rPr>
              <a:t>产品中心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33450" y="2838450"/>
            <a:ext cx="26289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负责用户路径、产品矩阵、体验和迭代。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33450" y="4248150"/>
            <a:ext cx="2628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定义价值</a:t>
            </a: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4362450" y="1924050"/>
            <a:ext cx="3143250" cy="3067050"/>
          </a:xfrm>
          <a:prstGeom prst="roundRect">
            <a:avLst>
              <a:gd name="adj" fmla="val 2484"/>
            </a:avLst>
          </a:prstGeom>
          <a:solidFill>
            <a:srgbClr val="F3F4F6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610100" y="2209800"/>
            <a:ext cx="2628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059669"/>
                </a:solidFill>
              </a:defRPr>
            </a:pPr>
            <a:r>
              <a:rPr sz="1950" b="1">
                <a:solidFill>
                  <a:srgbClr val="059669"/>
                </a:solidFill>
              </a:rPr>
              <a:t>交付中心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610100" y="2838450"/>
            <a:ext cx="26289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负责SOP、助教体系、质量和复购。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610100" y="4248150"/>
            <a:ext cx="2628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兑现价值</a:t>
            </a: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8039100" y="1924050"/>
            <a:ext cx="3143250" cy="3067050"/>
          </a:xfrm>
          <a:prstGeom prst="roundRect">
            <a:avLst>
              <a:gd name="adj" fmla="val 2484"/>
            </a:avLst>
          </a:prstGeom>
          <a:solidFill>
            <a:srgbClr val="F3F4F6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286750" y="2209800"/>
            <a:ext cx="2628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D97706"/>
                </a:solidFill>
              </a:defRPr>
            </a:pPr>
            <a:r>
              <a:rPr sz="1950" b="1">
                <a:solidFill>
                  <a:srgbClr val="D97706"/>
                </a:solidFill>
              </a:rPr>
              <a:t>数据AI中心</a:t>
            </a: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286750" y="2838450"/>
            <a:ext cx="26289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负责画像、Agent、数据中台和智能化。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286750" y="4248150"/>
            <a:ext cx="2628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放大价值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514350" y="438150"/>
            <a:ext cx="857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未来一年招聘优先级：先补产品、交付、数据三类关键人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10287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团队不是越大越好，关键是补齐把战略落成系统的岗位。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1428750"/>
            <a:ext cx="111252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14350" y="640080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榜样教育AI成长平台战略汇报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144250" y="63817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23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1809750"/>
            <a:ext cx="10972800" cy="495300"/>
          </a:xfrm>
          <a:prstGeom prst="rect">
            <a:avLst/>
          </a:prstGeom>
          <a:solidFill>
            <a:srgbClr val="0B1220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193357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优先级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3486150" y="193357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岗位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229350" y="193357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为什么重要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972550" y="193357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阶段产出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09600" y="2305050"/>
            <a:ext cx="10972800" cy="55245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42950" y="24288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P0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486150" y="24288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产品负责人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229350" y="24288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把课程变成产品矩阵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972550" y="24288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产品路线图</a:t>
            </a: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09600" y="2857500"/>
            <a:ext cx="109728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42950" y="29813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P0</a:t>
            </a: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3486150" y="29813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交付负责人</a:t>
            </a: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229350" y="29813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把服务变成SOP</a:t>
            </a: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972550" y="29813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交付标准</a:t>
            </a: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09600" y="3409950"/>
            <a:ext cx="10972800" cy="55245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42950" y="35337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P1</a:t>
            </a: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3486150" y="35337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数据产品经理</a:t>
            </a: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229350" y="35337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把行为变成资产</a:t>
            </a: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972550" y="35337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画像体系</a:t>
            </a: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09600" y="3962400"/>
            <a:ext cx="109728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42950" y="40862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P1</a:t>
            </a: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3486150" y="40862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AI应用负责人</a:t>
            </a: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229350" y="40862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把模型接入场景</a:t>
            </a: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972550" y="40862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Agent原型</a:t>
            </a: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609600" y="4514850"/>
            <a:ext cx="10972800" cy="55245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742950" y="46386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P2</a:t>
            </a: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3486150" y="46386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增长负责人</a:t>
            </a: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6229350" y="46386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把内容变成转化</a:t>
            </a: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8972550" y="46386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增长飞轮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514350" y="438150"/>
            <a:ext cx="857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财务模型的关键不是收入规模，而是收入结构升级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10287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只有会员、订阅和生态收入占比提升，公司才会从课程估值走向平台估值。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1428750"/>
            <a:ext cx="111252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14350" y="640080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榜样教育AI成长平台战略汇报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144250" y="63817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24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1809750"/>
            <a:ext cx="10972800" cy="495300"/>
          </a:xfrm>
          <a:prstGeom prst="rect">
            <a:avLst/>
          </a:prstGeom>
          <a:solidFill>
            <a:srgbClr val="0B1220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193357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阶段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3486150" y="193357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收入目标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229350" y="193357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主收入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972550" y="193357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结构目标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09600" y="2305050"/>
            <a:ext cx="10972800" cy="55245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42950" y="24288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验证期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486150" y="24288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1000万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229350" y="24288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训练营/课程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972550" y="24288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证明需求</a:t>
            </a: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09600" y="2857500"/>
            <a:ext cx="109728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42950" y="29813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复制期</a:t>
            </a: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3486150" y="29813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1亿</a:t>
            </a: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229350" y="29813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课程+会员</a:t>
            </a: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972550" y="29813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复购成立</a:t>
            </a: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09600" y="3409950"/>
            <a:ext cx="10972800" cy="55245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42950" y="35337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平台期</a:t>
            </a: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3486150" y="35337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10亿</a:t>
            </a: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229350" y="35337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订阅+生态</a:t>
            </a: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972550" y="35337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数据复利</a:t>
            </a: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09600" y="3962400"/>
            <a:ext cx="109728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42950" y="40862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生态期</a:t>
            </a: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3486150" y="40862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100亿</a:t>
            </a: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229350" y="40862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平台服务</a:t>
            </a: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972550" y="40862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多场景扩张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514350" y="438150"/>
            <a:ext cx="857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董事会只需要盯住这组指标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10287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战略是否成立，不看概念词，看用户、收入、数据和组织是否同步变强。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1428750"/>
            <a:ext cx="111252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14350" y="640080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榜样教育AI成长平台战略汇报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144250" y="63817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25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1809750"/>
            <a:ext cx="10972800" cy="495300"/>
          </a:xfrm>
          <a:prstGeom prst="rect">
            <a:avLst/>
          </a:prstGeom>
          <a:solidFill>
            <a:srgbClr val="0B1220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193357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维度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3486150" y="193357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核心指标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229350" y="193357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阶段目标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972550" y="193357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判断意义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09600" y="2305050"/>
            <a:ext cx="10972800" cy="55245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42950" y="24288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用户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486150" y="24288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有效家庭数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229350" y="24288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10万 -&gt; 100万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972550" y="24288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验证市场广度</a:t>
            </a: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09600" y="2857500"/>
            <a:ext cx="109728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42950" y="29813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产品</a:t>
            </a: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3486150" y="29813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完课率 / 复购率</a:t>
            </a: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229350" y="29813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70% / 30%+</a:t>
            </a: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972550" y="29813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验证真实价值</a:t>
            </a: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09600" y="3409950"/>
            <a:ext cx="10972800" cy="55245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42950" y="35337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商业</a:t>
            </a: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3486150" y="35337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会员与订阅占比</a:t>
            </a: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229350" y="35337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30% -&gt; 60%</a:t>
            </a: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972550" y="35337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验证收入质量</a:t>
            </a: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09600" y="3962400"/>
            <a:ext cx="109728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42950" y="40862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数据</a:t>
            </a: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3486150" y="40862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画像完整度</a:t>
            </a: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229350" y="40862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60% -&gt; 85%</a:t>
            </a: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972550" y="40862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验证AI壁垒</a:t>
            </a: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609600" y="4514850"/>
            <a:ext cx="10972800" cy="55245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742950" y="46386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组织</a:t>
            </a: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3486150" y="46386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SOP覆盖率</a:t>
            </a: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6229350" y="46386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80%+</a:t>
            </a: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8972550" y="46386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验证可复制性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514350" y="438150"/>
            <a:ext cx="857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融资故事要从技术概念改为经营确定性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10287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投资人真正关心的是市场、增长、留存、毛利、数据壁垒和组织能力。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1428750"/>
            <a:ext cx="111252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14350" y="640080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榜样教育AI成长平台战略汇报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144250" y="63817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26</a:t>
            </a: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685800" y="1924050"/>
            <a:ext cx="3143250" cy="3067050"/>
          </a:xfrm>
          <a:prstGeom prst="roundRect">
            <a:avLst>
              <a:gd name="adj" fmla="val 2484"/>
            </a:avLst>
          </a:prstGeom>
          <a:solidFill>
            <a:srgbClr val="F3F4F6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33450" y="2209800"/>
            <a:ext cx="2628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2563EB"/>
                </a:solidFill>
              </a:defRPr>
            </a:pPr>
            <a:r>
              <a:rPr sz="1950" b="1">
                <a:solidFill>
                  <a:srgbClr val="2563EB"/>
                </a:solidFill>
              </a:rPr>
              <a:t>市场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33450" y="2838450"/>
            <a:ext cx="26289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家庭教育从课程消费转向长期成长服务。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33450" y="4248150"/>
            <a:ext cx="2628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空间足够大</a:t>
            </a: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4362450" y="1924050"/>
            <a:ext cx="3143250" cy="3067050"/>
          </a:xfrm>
          <a:prstGeom prst="roundRect">
            <a:avLst>
              <a:gd name="adj" fmla="val 2484"/>
            </a:avLst>
          </a:prstGeom>
          <a:solidFill>
            <a:srgbClr val="F3F4F6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610100" y="2209800"/>
            <a:ext cx="2628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059669"/>
                </a:solidFill>
              </a:defRPr>
            </a:pPr>
            <a:r>
              <a:rPr sz="1950" b="1">
                <a:solidFill>
                  <a:srgbClr val="059669"/>
                </a:solidFill>
              </a:rPr>
              <a:t>模式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610100" y="2838450"/>
            <a:ext cx="26289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课程现金流 + 会员订阅 + AI陪伴 + 生态服务。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610100" y="4248150"/>
            <a:ext cx="2628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收入可复合</a:t>
            </a: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8039100" y="1924050"/>
            <a:ext cx="3143250" cy="3067050"/>
          </a:xfrm>
          <a:prstGeom prst="roundRect">
            <a:avLst>
              <a:gd name="adj" fmla="val 2484"/>
            </a:avLst>
          </a:prstGeom>
          <a:solidFill>
            <a:srgbClr val="F3F4F6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286750" y="2209800"/>
            <a:ext cx="2628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D97706"/>
                </a:solidFill>
              </a:defRPr>
            </a:pPr>
            <a:r>
              <a:rPr sz="1950" b="1">
                <a:solidFill>
                  <a:srgbClr val="D97706"/>
                </a:solidFill>
              </a:rPr>
              <a:t>壁垒</a:t>
            </a: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286750" y="2838450"/>
            <a:ext cx="26289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交付体系、家庭成长数据、AI持续优化。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286750" y="4248150"/>
            <a:ext cx="2628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长期可防守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514350" y="438150"/>
            <a:ext cx="857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三年路线图：先做出确定性，再追求平台化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10287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每一年只打一场主仗，避免战略同时摊太开。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1428750"/>
            <a:ext cx="111252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14350" y="640080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榜样教育AI成长平台战略汇报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144250" y="63817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27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914400" y="2000250"/>
            <a:ext cx="2476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2026-2027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2533650"/>
            <a:ext cx="2476500" cy="381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14400" y="2895600"/>
            <a:ext cx="2476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产品验证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14400" y="3505200"/>
            <a:ext cx="25717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爆款课程 + 标准化交付 + 10万家庭样本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533900" y="2000250"/>
            <a:ext cx="2476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2027-2028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533900" y="2533650"/>
            <a:ext cx="2476500" cy="38100"/>
          </a:xfrm>
          <a:prstGeom prst="rect">
            <a:avLst/>
          </a:prstGeom>
          <a:solidFill>
            <a:srgbClr val="059669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533900" y="2895600"/>
            <a:ext cx="2476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规模复制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533900" y="3505200"/>
            <a:ext cx="25717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AI成长助手 + 会员订阅 + 100万家庭数据库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153400" y="2000250"/>
            <a:ext cx="2476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2028-2029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153400" y="2533650"/>
            <a:ext cx="2476500" cy="38100"/>
          </a:xfrm>
          <a:prstGeom prst="rect">
            <a:avLst/>
          </a:prstGeom>
          <a:solidFill>
            <a:srgbClr val="D9770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153400" y="2895600"/>
            <a:ext cx="2476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平台生态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153400" y="3505200"/>
            <a:ext cx="25717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开放Agent + 生态服务 + 多场景家庭成长平台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514350" y="438150"/>
            <a:ext cx="857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第一年只做五件事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10287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压缩战略动作，确保资源集中在最能验证商业闭环的事情上。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1428750"/>
            <a:ext cx="111252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14350" y="640080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榜样教育AI成长平台战略汇报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144250" y="63817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28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1809750"/>
            <a:ext cx="10972800" cy="495300"/>
          </a:xfrm>
          <a:prstGeom prst="rect">
            <a:avLst/>
          </a:prstGeom>
          <a:solidFill>
            <a:srgbClr val="0B1220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193357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事项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3486150" y="193357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目标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229350" y="193357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负责人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972550" y="193357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验收标准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09600" y="2305050"/>
            <a:ext cx="10972800" cy="55245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42950" y="24288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爆款产品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486150" y="24288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家长训练营标准化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229350" y="24288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产品中心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972550" y="24288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转化与完课达标</a:t>
            </a: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09600" y="2857500"/>
            <a:ext cx="109728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42950" y="29813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交付SOP</a:t>
            </a: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3486150" y="29813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助教与评估流程</a:t>
            </a: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229350" y="29813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交付中心</a:t>
            </a: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972550" y="29813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满意度与续费</a:t>
            </a: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09600" y="3409950"/>
            <a:ext cx="10972800" cy="55245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42950" y="35337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AI助手</a:t>
            </a: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3486150" y="35337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每日陪伴与报告</a:t>
            </a: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229350" y="35337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AI中心</a:t>
            </a: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972550" y="35337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活跃与留存</a:t>
            </a: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09600" y="3962400"/>
            <a:ext cx="109728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42950" y="40862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数据体系</a:t>
            </a: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3486150" y="40862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成长画像与标签</a:t>
            </a: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229350" y="40862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数据中心</a:t>
            </a: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972550" y="40862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画像完整度</a:t>
            </a: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609600" y="4514850"/>
            <a:ext cx="10972800" cy="55245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742950" y="46386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增长飞轮</a:t>
            </a: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3486150" y="46386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内容+私域+裂变</a:t>
            </a: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6229350" y="46386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增长中心</a:t>
            </a: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8972550" y="46386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CAC下降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685800" y="6858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结论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581150"/>
            <a:ext cx="95250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525" b="1">
                <a:solidFill>
                  <a:srgbClr val="111827"/>
                </a:solidFill>
              </a:defRPr>
            </a:pPr>
            <a:r>
              <a:rPr sz="3525" b="1">
                <a:solidFill>
                  <a:srgbClr val="111827"/>
                </a:solidFill>
              </a:rPr>
              <a:t>最终共识：先把产品和交付做到极致，再让AI放大价值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23900" y="3905250"/>
            <a:ext cx="8667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475569"/>
                </a:solidFill>
              </a:defRPr>
            </a:pPr>
            <a:r>
              <a:rPr sz="1800" b="0">
                <a:solidFill>
                  <a:srgbClr val="475569"/>
                </a:solidFill>
              </a:rPr>
              <a:t>不要让AI代替产品，也不要让平台代替经营。真正的路径是产品标准化、数据资产化、AI协同化、生态平台化。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5143500"/>
            <a:ext cx="809625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14350" y="640080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榜样教育AI成长平台战略汇报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144250" y="63817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685800" y="876300"/>
            <a:ext cx="5334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下一步建议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23900" y="1733550"/>
            <a:ext cx="857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0">
                <a:solidFill>
                  <a:srgbClr val="CBD5E1"/>
                </a:solidFill>
              </a:defRPr>
            </a:pPr>
            <a:r>
              <a:rPr sz="2025" b="0">
                <a:solidFill>
                  <a:srgbClr val="CBD5E1"/>
                </a:solidFill>
              </a:rPr>
              <a:t>用这套30页汇报版统一核心团队共识；随后拆成产品体系设计、AI平台PRD、融资BP和组织管理手册。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23900" y="3028950"/>
            <a:ext cx="8382000" cy="19050"/>
          </a:xfrm>
          <a:prstGeom prst="rect">
            <a:avLst/>
          </a:prstGeom>
          <a:solidFill>
            <a:srgbClr val="33415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3524250"/>
            <a:ext cx="8572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本阶段最重要的不是继续扩写材料，而是启动产品验证和交付标准化。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858500" y="6191250"/>
            <a:ext cx="66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0">
                <a:solidFill>
                  <a:srgbClr val="94A3B8"/>
                </a:solidFill>
              </a:defRPr>
            </a:pPr>
            <a:r>
              <a:rPr sz="1200" b="0">
                <a:solidFill>
                  <a:srgbClr val="94A3B8"/>
                </a:solidFill>
              </a:rPr>
              <a:t>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1106</Words>
  <Application>Microsoft Office PowerPoint</Application>
  <PresentationFormat>宽屏</PresentationFormat>
  <Paragraphs>517</Paragraphs>
  <Slides>30</Slides>
  <Notes>30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2" baseType="lpstr"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Wei Bing Zou</cp:lastModifiedBy>
  <cp:revision>1</cp:revision>
  <dcterms:created xsi:type="dcterms:W3CDTF">2026-07-11T09:30:21Z</dcterms:created>
  <dcterms:modified xsi:type="dcterms:W3CDTF">2026-08-09T05:55:53Z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26AC2BF53B4402032D0D526AB311180D_43</vt:lpwstr>
  </property>
  <property fmtid="{D5CDD505-2E9C-101B-9397-08002B2CF9AE}" pid="3" name="KSOProductBuildVer">
    <vt:lpwstr>2052-12.1.23540.23540</vt:lpwstr>
  </property>
</Properties>
</file>