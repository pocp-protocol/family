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" y="731520"/>
            <a:ext cx="3657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家庭教育大模型平台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0A8E8"/>
                </a:solidFill>
                <a:latin typeface="微软雅黑"/>
              </a:defRPr>
            </a:pPr>
            <a:r>
              <a:t>科技公司项目合作方案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5195" y="3931920"/>
            <a:ext cx="1610360" cy="306705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C757D"/>
                </a:solidFill>
                <a:latin typeface="Calibri"/>
              </a:defRPr>
            </a:pPr>
            <a:r>
              <a:rPr lang="zh-CN" b="1"/>
              <a:t>榜样家庭教育团队</a:t>
            </a:r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ADB5BD"/>
                </a:solidFill>
                <a:latin typeface="微软雅黑"/>
              </a:defRPr>
            </a:pPr>
            <a:r>
              <a:t>战略定位 · 落地路径 · 组织机制 · 合作模式</a:t>
            </a:r>
          </a:p>
        </p:txBody>
      </p:sp>
      <p:sp>
        <p:nvSpPr>
          <p:cNvPr id="8" name="Oval 7"/>
          <p:cNvSpPr/>
          <p:nvPr/>
        </p:nvSpPr>
        <p:spPr>
          <a:xfrm>
            <a:off x="9601200" y="4572000"/>
            <a:ext cx="2286000" cy="2286000"/>
          </a:xfrm>
          <a:prstGeom prst="ellipse">
            <a:avLst/>
          </a:prstGeom>
          <a:solidFill>
            <a:srgbClr val="00A8E8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0" y="914400"/>
            <a:ext cx="1097280" cy="10972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0" y="1645920"/>
            <a:ext cx="731520" cy="731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项目背景与战略愿景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2377440"/>
          </a:xfrm>
          <a:prstGeom prst="roundRect">
            <a:avLst/>
          </a:prstGeom>
          <a:solidFill>
            <a:srgbClr val="14283C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A8E8"/>
                </a:solidFill>
                <a:latin typeface="微软雅黑"/>
              </a:defRPr>
            </a:pPr>
            <a:r>
              <a:t>项目定位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ADB5BD"/>
                </a:solidFill>
                <a:latin typeface="微软雅黑"/>
              </a:defRPr>
            </a:pPr>
            <a:r>
              <a:t>社会心理与家庭教育方向的平台型项目，是替代传统教培的新一代教育入口，具备行业变革潜力。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00" cy="2377440"/>
          </a:xfrm>
          <a:prstGeom prst="roundRect">
            <a:avLst/>
          </a:prstGeom>
          <a:solidFill>
            <a:srgbClr val="14283C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AA"/>
                </a:solidFill>
                <a:latin typeface="微软雅黑"/>
              </a:defRPr>
            </a:pPr>
            <a:r>
              <a:t>核心愿景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ADB5BD"/>
                </a:solidFill>
                <a:latin typeface="微软雅黑"/>
              </a:defRPr>
            </a:pPr>
            <a:r>
              <a:t>打造"黑灯工厂"式全链路自动化运转体系，实现自动化获客、成交、服务，消除传统投流的高成本风险。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3566160" cy="228600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3566160" cy="508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A8E8"/>
                </a:solidFill>
                <a:latin typeface="微软雅黑"/>
              </a:defRPr>
            </a:pPr>
            <a:r>
              <a:t>平台级赛道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替代传统教培</a:t>
            </a:r>
            <a:br/>
            <a:r>
              <a:t>新一代教育入口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114800"/>
            <a:ext cx="3566160" cy="228600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4114800"/>
            <a:ext cx="356616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D4AA"/>
                </a:solidFill>
                <a:latin typeface="微软雅黑"/>
              </a:defRPr>
            </a:pPr>
            <a:r>
              <a:t>数据资产驱动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377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用户数据资产可调用</a:t>
            </a:r>
            <a:br/>
            <a:r>
              <a:t>支撑百亿级估值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114800"/>
            <a:ext cx="3566160" cy="228600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114800"/>
            <a:ext cx="356616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389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C107"/>
                </a:solidFill>
                <a:latin typeface="微软雅黑"/>
              </a:defRPr>
            </a:pPr>
            <a:r>
              <a:t>跨赛道复用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9377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底座+Agent+裂变能力</a:t>
            </a:r>
            <a:br/>
            <a:r>
              <a:t>快速复制高付费赛道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战略定位：赛道价值判断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32004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475488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A8E8"/>
                </a:solidFill>
                <a:latin typeface="Arial" panose="020B060402020209020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平台级赛道定位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1371600" cy="254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社会心理与家庭教育方向的平台型项目，是替代传统教培的新一代教育入口，具备行业变革潜力。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566160" cy="475488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D4AA"/>
                </a:solidFill>
                <a:latin typeface="Arial" panose="020B0604020202090204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估值逻辑差异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200400"/>
            <a:ext cx="13716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4747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聚焦用户数据资产可调用，区别于传统教培仅做数据记录的工具属性，可支撑百亿甚至千亿级估值。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566160" cy="475488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8288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C107"/>
                </a:solidFill>
                <a:latin typeface="Arial" panose="020B0604020202090204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5176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跨赛道复用能力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3200400"/>
            <a:ext cx="1371600" cy="25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4747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整套底座工具+Agent应用+用户裂变的能力可跨赛道迁移，仅需替换知识库即可快速复制到其他高付费赛道。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商业闭环目标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029200" cy="4572000"/>
          </a:xfrm>
          <a:prstGeom prst="roundRect">
            <a:avLst/>
          </a:prstGeom>
          <a:solidFill>
            <a:srgbClr val="0F2337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A8E8"/>
                </a:solidFill>
                <a:latin typeface="微软雅黑"/>
              </a:defRPr>
            </a:pPr>
            <a:r>
              <a:t>"黑灯工厂"式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AA"/>
                </a:solidFill>
                <a:latin typeface="微软雅黑"/>
              </a:defRPr>
            </a:pPr>
            <a:r>
              <a:t>全链路自动化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ADB5BD"/>
                </a:solidFill>
                <a:latin typeface="微软雅黑"/>
              </a:defRPr>
            </a:pPr>
            <a:r>
              <a:t>实现自动化获客、成交、服务，消除传统投流的高成本风险，构建可持续的商业闭环。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54480"/>
            <a:ext cx="5852160" cy="219456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1554480"/>
            <a:ext cx="73152" cy="219456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8"/>
                </a:solidFill>
                <a:latin typeface="微软雅黑"/>
              </a:defRPr>
            </a:pPr>
            <a:r>
              <a:t>自动化运营体系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945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最终打造全链路自动化运转体系</a:t>
            </a:r>
            <a:br/>
            <a:r>
              <a:t>实现自动化获客、成交、服务</a:t>
            </a:r>
            <a:br/>
            <a:r>
              <a:t>消除传统投流的高成本风险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931920"/>
            <a:ext cx="5852160" cy="219456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3931920"/>
            <a:ext cx="73152" cy="21945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41148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运营风险防控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5720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无实体产品交付风险</a:t>
            </a:r>
            <a:br/>
            <a:r>
              <a:t>不会出现合规引发的大规模爆雷问题</a:t>
            </a:r>
            <a:br/>
            <a:r>
              <a:t>长期稳定性更强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核心业务落地路径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AA"/>
                </a:solidFill>
                <a:latin typeface="微软雅黑"/>
              </a:defRPr>
            </a:pPr>
            <a:r>
              <a:t>三大核心板块推进要求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2004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457200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3566160" cy="7315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 panose="020B0604020202090204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9058" y="2651760"/>
            <a:ext cx="196532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教务教学</a:t>
            </a:r>
            <a:r>
              <a:rPr lang="zh-CN"/>
              <a:t>等</a:t>
            </a:r>
            <a:r>
              <a:t>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200400"/>
            <a:ext cx="2103120" cy="320040"/>
          </a:xfrm>
          <a:prstGeom prst="roundRect">
            <a:avLst/>
          </a:prstGeom>
          <a:solidFill>
            <a:srgbClr val="1E3246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2186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A8E8"/>
                </a:solidFill>
                <a:latin typeface="微软雅黑"/>
              </a:defRPr>
            </a:pPr>
            <a:r>
              <a:t>成熟底座 · 快速适配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3200400" cy="1296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直接</a:t>
            </a:r>
            <a:r>
              <a:rPr lang="zh-CN"/>
              <a:t>复用</a:t>
            </a:r>
            <a:r>
              <a:t>市面上成熟的教培类SaaS产品，不再从零启动开发，仅针对自身业务需求做适配调整，避免无效精力消耗。</a:t>
            </a:r>
            <a:r>
              <a:rPr lang="zh-CN"/>
              <a:t>（已经在</a:t>
            </a:r>
            <a:r>
              <a:rPr lang="zh-CN"/>
              <a:t>进行）</a:t>
            </a:r>
            <a:endParaRPr lang="zh-CN"/>
          </a:p>
        </p:txBody>
      </p:sp>
      <p:sp>
        <p:nvSpPr>
          <p:cNvPr id="13" name="Rounded Rectangle 12"/>
          <p:cNvSpPr/>
          <p:nvPr/>
        </p:nvSpPr>
        <p:spPr>
          <a:xfrm>
            <a:off x="4389120" y="1737360"/>
            <a:ext cx="3566160" cy="457200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37360"/>
            <a:ext cx="3566160" cy="731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78308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 panose="020B0604020202090204"/>
              </a:defRPr>
            </a:pPr>
            <a: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技术与知识库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3200400"/>
            <a:ext cx="2103120" cy="320040"/>
          </a:xfrm>
          <a:prstGeom prst="roundRect">
            <a:avLst/>
          </a:prstGeom>
          <a:solidFill>
            <a:srgbClr val="1E3246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2186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D4AA"/>
                </a:solidFill>
                <a:latin typeface="微软雅黑"/>
              </a:defRPr>
            </a:pPr>
            <a:r>
              <a:t>数据驱动 · 持续迭代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49039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核心团队重点投入大模型知识库搭建、会话存档体系建设、Agent模型迭代，所有迭代必须紧密结合真实用户交互数据。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737360"/>
            <a:ext cx="3566160" cy="457200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737360"/>
            <a:ext cx="3566160" cy="7315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783080"/>
            <a:ext cx="3566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 panose="020B0604020202090204"/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51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用户裂变体系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200400"/>
            <a:ext cx="2103120" cy="320040"/>
          </a:xfrm>
          <a:prstGeom prst="roundRect">
            <a:avLst/>
          </a:prstGeom>
          <a:solidFill>
            <a:srgbClr val="1E3246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321868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C107"/>
                </a:solidFill>
                <a:latin typeface="微软雅黑"/>
              </a:defRPr>
            </a:pPr>
            <a:r>
              <a:t>游戏化裂变 · 精准触达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49039"/>
            <a:ext cx="3200400" cy="1296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搭建带游戏化、积分商城逻辑的用户交互端口，通过专属通道实现自动化打卡、触达，后续品牌投放转向楼宇电梯场景。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落地节奏管控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0972800" cy="50800"/>
          </a:xfrm>
          <a:prstGeom prst="rect">
            <a:avLst/>
          </a:prstGeom>
          <a:solidFill>
            <a:srgbClr val="28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2423160"/>
            <a:ext cx="274320" cy="274320"/>
          </a:xfrm>
          <a:prstGeom prst="ellipse">
            <a:avLst/>
          </a:prstGeom>
          <a:solidFill>
            <a:srgbClr val="00A8E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097280"/>
            <a:ext cx="2926080" cy="128016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234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A8E8"/>
                </a:solidFill>
                <a:latin typeface="微软雅黑"/>
              </a:defRPr>
            </a:pPr>
            <a:r>
              <a:t>第一阶段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5544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底座适配调优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926080"/>
            <a:ext cx="2926080" cy="2560320"/>
          </a:xfrm>
          <a:prstGeom prst="roundRect">
            <a:avLst/>
          </a:prstGeom>
          <a:solidFill>
            <a:srgbClr val="0F2337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10896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20%精力完成现有成熟底座的适配调优</a:t>
            </a:r>
            <a:br/>
            <a:r>
              <a:t>80%精力投入用户端体系搭建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0" y="2423160"/>
            <a:ext cx="274320" cy="274320"/>
          </a:xfrm>
          <a:prstGeom prst="ellipse">
            <a:avLst/>
          </a:prstGeom>
          <a:solidFill>
            <a:srgbClr val="00D4A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0" y="1097280"/>
            <a:ext cx="2926080" cy="128016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234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AA"/>
                </a:solidFill>
                <a:latin typeface="微软雅黑"/>
              </a:defRPr>
            </a:pPr>
            <a:r>
              <a:t>核心目标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15544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1年内完成核心闭环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926080"/>
            <a:ext cx="2926080" cy="2560320"/>
          </a:xfrm>
          <a:prstGeom prst="roundRect">
            <a:avLst/>
          </a:prstGeom>
          <a:solidFill>
            <a:srgbClr val="0F2337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310896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避免长期徘徊在低价值的基础搭建阶段</a:t>
            </a:r>
            <a:br/>
            <a:r>
              <a:t>抓住当前的市场窗口与先发优势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0" y="2423160"/>
            <a:ext cx="274320" cy="274320"/>
          </a:xfrm>
          <a:prstGeom prst="ellipse">
            <a:avLst/>
          </a:prstGeom>
          <a:solidFill>
            <a:srgbClr val="FFC10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1097280"/>
            <a:ext cx="2926080" cy="128016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234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107"/>
                </a:solidFill>
                <a:latin typeface="微软雅黑"/>
              </a:defRPr>
            </a:pPr>
            <a:r>
              <a:t>持续迭代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5544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数据驱动优化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926080"/>
            <a:ext cx="2926080" cy="2560320"/>
          </a:xfrm>
          <a:prstGeom prst="roundRect">
            <a:avLst/>
          </a:prstGeom>
          <a:solidFill>
            <a:srgbClr val="0F2337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108960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ADB5BD"/>
                </a:solidFill>
                <a:latin typeface="微软雅黑"/>
              </a:defRPr>
            </a:pPr>
            <a:r>
              <a:t>所有迭代必须紧密结合真实用户交互数据</a:t>
            </a:r>
            <a:br/>
            <a:r>
              <a:t>持续优化大模型知识库与Agent能力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760720"/>
            <a:ext cx="10972800" cy="731520"/>
          </a:xfrm>
          <a:prstGeom prst="roundRect">
            <a:avLst/>
          </a:prstGeom>
          <a:solidFill>
            <a:srgbClr val="142D41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8978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A8E8"/>
                </a:solidFill>
                <a:latin typeface="微软雅黑"/>
              </a:defRPr>
            </a:pPr>
            <a:r>
              <a:t>核心原则：拒绝低效从零研发，第一阶段仅用20%精力完成底座适配，80%精力投入用户端体系搭建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组织与合作机制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D4AA"/>
                </a:solidFill>
                <a:latin typeface="微软雅黑"/>
              </a:defRPr>
            </a:pPr>
            <a:r>
              <a:t>实体架构规划与资本运作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2004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572000"/>
          </a:xfrm>
          <a:prstGeom prst="roundRect">
            <a:avLst/>
          </a:prstGeom>
          <a:solidFill>
            <a:srgbClr val="14283C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终局视角布局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● 独立新公司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ADB5BD"/>
                </a:solidFill>
                <a:latin typeface="微软雅黑"/>
              </a:defRPr>
            </a:pPr>
            <a:r>
              <a:t>   按"先胜而后战"的思路搭建独立新公司，为长期发展奠定组织基础。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● 资本与人才同步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ADB5BD"/>
                </a:solidFill>
                <a:latin typeface="微软雅黑"/>
              </a:defRPr>
            </a:pPr>
            <a:r>
              <a:t>   初始阶段就同步引入外部资本与核心人才，避免中途出现资源缺口。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● 资源储备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ADB5BD"/>
                </a:solidFill>
                <a:latin typeface="微软雅黑"/>
              </a:defRPr>
            </a:pPr>
            <a:r>
              <a:t>   提前为第二阶段的业务扩张做好储备，保障项目落地成功率。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572000"/>
          </a:xfrm>
          <a:prstGeom prst="roundRect">
            <a:avLst/>
          </a:prstGeom>
          <a:solidFill>
            <a:srgbClr val="14283C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5486400" cy="5486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A1628"/>
                </a:solidFill>
                <a:latin typeface="微软雅黑"/>
              </a:defRPr>
            </a:pPr>
            <a:r>
              <a:t>资本运作潜力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● 资本关注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ADB5BD"/>
                </a:solidFill>
                <a:latin typeface="微软雅黑"/>
              </a:defRPr>
            </a:pPr>
            <a:r>
              <a:t>   当前已有多家资本关注该赛道项目，市场认可度高。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● 场景清晰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ADB5BD"/>
                </a:solidFill>
                <a:latin typeface="微软雅黑"/>
              </a:defRPr>
            </a:pPr>
            <a:r>
              <a:t>   项目落地场景清晰、符合时代需求，具备极强的资本运作潜力。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● 上市潜力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ADB5BD"/>
                </a:solidFill>
                <a:latin typeface="微软雅黑"/>
              </a:defRPr>
            </a:pPr>
            <a:r>
              <a:t>   具备上市潜力，长期资本价值明确。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核心团队建设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8"/>
                </a:solidFill>
                <a:latin typeface="微软雅黑"/>
              </a:defRPr>
            </a:pPr>
            <a:r>
              <a:t>人才画像标准：复合型跨界人才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51760" cy="1645920"/>
          </a:xfrm>
          <a:prstGeom prst="roundRect">
            <a:avLst/>
          </a:prstGeom>
          <a:solidFill>
            <a:srgbClr val="14283C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A8E8"/>
                </a:solidFill>
                <a:latin typeface="微软雅黑"/>
              </a:defRPr>
            </a:pPr>
            <a:r>
              <a:t>懂产品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ADB5BD"/>
                </a:solidFill>
                <a:latin typeface="微软雅黑"/>
              </a:defRPr>
            </a:pPr>
            <a:r>
              <a:t>深入理解产品逻辑</a:t>
            </a:r>
            <a:br/>
            <a:r>
              <a:t>与业务场景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20240"/>
            <a:ext cx="2651760" cy="1645920"/>
          </a:xfrm>
          <a:prstGeom prst="roundRect">
            <a:avLst/>
          </a:prstGeom>
          <a:solidFill>
            <a:srgbClr val="14283C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微软雅黑"/>
              </a:defRPr>
            </a:pPr>
            <a:r>
              <a:t>懂用户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ADB5BD"/>
                </a:solidFill>
                <a:latin typeface="微软雅黑"/>
              </a:defRPr>
            </a:pPr>
            <a:r>
              <a:t>精准把握用户</a:t>
            </a:r>
            <a:br/>
            <a:r>
              <a:t>需求与痛点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2651760" cy="1645920"/>
          </a:xfrm>
          <a:prstGeom prst="roundRect">
            <a:avLst/>
          </a:prstGeom>
          <a:solidFill>
            <a:srgbClr val="14283C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  <a:latin typeface="微软雅黑"/>
              </a:defRPr>
            </a:pPr>
            <a:r>
              <a:t>懂数据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ADB5BD"/>
                </a:solidFill>
                <a:latin typeface="微软雅黑"/>
              </a:defRPr>
            </a:pPr>
            <a:r>
              <a:t>数据驱动决策</a:t>
            </a:r>
            <a:br/>
            <a:r>
              <a:t>与迭代优化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920240"/>
            <a:ext cx="2651760" cy="1645920"/>
          </a:xfrm>
          <a:prstGeom prst="roundRect">
            <a:avLst/>
          </a:prstGeom>
          <a:solidFill>
            <a:srgbClr val="14283C"/>
          </a:solidFill>
          <a:ln w="254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1031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A2BE2"/>
                </a:solidFill>
                <a:latin typeface="微软雅黑"/>
              </a:defRPr>
            </a:pPr>
            <a:r>
              <a:t>懂心智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6517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>
                <a:solidFill>
                  <a:srgbClr val="ADB5BD"/>
                </a:solidFill>
                <a:latin typeface="微软雅黑"/>
              </a:defRPr>
            </a:pPr>
            <a:r>
              <a:t>洞察用户心理</a:t>
            </a:r>
            <a:br/>
            <a:r>
              <a:t>与行为模式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5669280" cy="2560320"/>
          </a:xfrm>
          <a:prstGeom prst="roundRect">
            <a:avLst/>
          </a:prstGeom>
          <a:solidFill>
            <a:srgbClr val="0F2337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91440" cy="25603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233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A8E8"/>
                </a:solidFill>
                <a:latin typeface="微软雅黑"/>
              </a:defRPr>
            </a:pPr>
            <a:r>
              <a:t>All In 投入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500">
                <a:solidFill>
                  <a:srgbClr val="ADB5BD"/>
                </a:solidFill>
                <a:latin typeface="微软雅黑"/>
              </a:defRPr>
            </a:pPr>
            <a:r>
              <a:t>核心团队需全身心投入，拒绝任务式交付，以创业心态共同推动项目发展。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840480"/>
            <a:ext cx="5669280" cy="2560320"/>
          </a:xfrm>
          <a:prstGeom prst="roundRect">
            <a:avLst/>
          </a:prstGeom>
          <a:solidFill>
            <a:srgbClr val="0F2337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840480"/>
            <a:ext cx="91440" cy="2560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233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AA"/>
                </a:solidFill>
                <a:latin typeface="微软雅黑"/>
              </a:defRPr>
            </a:pPr>
            <a:r>
              <a:t>决策效率保障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500">
                <a:solidFill>
                  <a:srgbClr val="ADB5BD"/>
                </a:solidFill>
                <a:latin typeface="微软雅黑"/>
              </a:defRPr>
            </a:pPr>
            <a:r>
              <a:t>仅核心决策层对接项目核心事项，避免多层级沟通带来的信息折损、效率下降问题。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合作模式对齐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2860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669280" cy="4114800"/>
          </a:xfrm>
          <a:prstGeom prst="roundRect">
            <a:avLst/>
          </a:prstGeom>
          <a:solidFill>
            <a:srgbClr val="14283C"/>
          </a:solidFill>
          <a:ln w="254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669280" cy="5486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协作验证安排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90563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8E8"/>
                </a:solidFill>
                <a:latin typeface="微软雅黑"/>
              </a:defRPr>
            </a:pPr>
            <a:r>
              <a:t>快速验证 · </a:t>
            </a:r>
            <a:r>
              <a:rPr lang="zh-CN"/>
              <a:t>同步</a:t>
            </a:r>
            <a:r>
              <a:t>明确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512064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ADB5BD"/>
                </a:solidFill>
                <a:latin typeface="微软雅黑"/>
              </a:defRPr>
            </a:pPr>
            <a:r>
              <a:t>当前阶段先基于现有成熟底座做快速适配，</a:t>
            </a:r>
            <a:r>
              <a:rPr lang="zh-CN"/>
              <a:t>协作</a:t>
            </a:r>
            <a:r>
              <a:rPr lang="zh-CN"/>
              <a:t>过程同步</a:t>
            </a:r>
            <a:r>
              <a:t>明确核心角色与分工。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554480"/>
            <a:ext cx="5669280" cy="4114800"/>
          </a:xfrm>
          <a:prstGeom prst="roundRect">
            <a:avLst/>
          </a:prstGeom>
          <a:solidFill>
            <a:srgbClr val="14283C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554480"/>
            <a:ext cx="5669280" cy="5486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资源同步储备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286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AA"/>
                </a:solidFill>
                <a:latin typeface="微软雅黑"/>
              </a:defRPr>
            </a:pPr>
            <a:r>
              <a:t>提前储备 · 保障落地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ADB5BD"/>
                </a:solidFill>
                <a:latin typeface="微软雅黑"/>
              </a:defRPr>
            </a:pPr>
            <a:r>
              <a:t>同步启动外部核心人才、行业资源的对接工作，提前为第二阶段的业务扩张做好储备，保障项目落地成功率。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60720"/>
            <a:ext cx="10972800" cy="731520"/>
          </a:xfrm>
          <a:prstGeom prst="roundRect">
            <a:avLst/>
          </a:prstGeom>
          <a:solidFill>
            <a:srgbClr val="142D41"/>
          </a:solidFill>
          <a:ln w="1270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A8E8"/>
                </a:solidFill>
                <a:latin typeface="微软雅黑"/>
              </a:defRPr>
            </a:pPr>
            <a:r>
              <a:t>合作路径：快速适配验证 → 明确角色分工 → 资源同步储备 → 业务扩张落地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286000"/>
            <a:ext cx="4876495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期待与您合作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A8E8"/>
                </a:solidFill>
                <a:latin typeface="微软雅黑"/>
              </a:defRPr>
            </a:pPr>
            <a:r>
              <a:t>家庭教育大模型平台科技公司项目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114800"/>
            <a:ext cx="4876495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DB5BD"/>
                </a:solidFill>
                <a:latin typeface="微软雅黑"/>
              </a:defRPr>
            </a:pPr>
            <a:r>
              <a:t>携手共建新一代家庭教育入口</a:t>
            </a:r>
          </a:p>
        </p:txBody>
      </p:sp>
      <p:sp>
        <p:nvSpPr>
          <p:cNvPr id="8" name="Oval 7"/>
          <p:cNvSpPr/>
          <p:nvPr/>
        </p:nvSpPr>
        <p:spPr>
          <a:xfrm>
            <a:off x="9601200" y="4754880"/>
            <a:ext cx="2286000" cy="228600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1583</Words>
  <Application>WPS 演示</Application>
  <PresentationFormat>On-screen Show (4:3)</PresentationFormat>
  <Paragraphs>188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MJP</cp:lastModifiedBy>
  <cp:revision>3</cp:revision>
  <dcterms:created xsi:type="dcterms:W3CDTF">2026-07-10T10:58:49Z</dcterms:created>
  <dcterms:modified xsi:type="dcterms:W3CDTF">2026-07-10T10:58:49Z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39F67DDDFF63820CADCF506A2678485C_42</vt:lpwstr>
  </property>
</Properties>
</file>