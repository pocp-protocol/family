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485900"/>
            <a:ext cx="895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榜样教育AI成长平台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3812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战略白皮书 30页演讲汇报版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329565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不是一家AI工具公司，而是一家家庭成长数据科技公司</a:t>
            </a:r>
            <a:endParaRPr sz="1800" b="0">
              <a:solidFill>
                <a:srgbClr val="CBD5E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4171950"/>
            <a:ext cx="7239000" cy="1905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44767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董事会汇报 / 合作伙伴沟通 / 融资前战略共识</a:t>
            </a:r>
            <a:endParaRPr sz="1425" b="0">
              <a:solidFill>
                <a:srgbClr val="CBD5E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5048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2026.07</a:t>
            </a:r>
            <a:endParaRPr sz="1350" b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今天只回答一个问题：榜样教育如何从课程公司升级为平台公司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30页版本压缩为一条汇报主线：机会、定位、模式、能力、路径。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02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80975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01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62100" y="17907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为什么现在必须升级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867400" y="18478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教培旧逻辑结束，家庭成长需求上升</a:t>
            </a:r>
            <a:endParaRPr sz="1500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59080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02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62100" y="25717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我们到底是什么公司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67400" y="26289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家庭成长数据科技公司</a:t>
            </a:r>
            <a:endParaRPr sz="1500" b="0">
              <a:solidFill>
                <a:srgbClr val="47556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337185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03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562100" y="33528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怎么赚钱、怎么持续增长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67400" y="34099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课程入口 + 会员订阅 + AI陪伴 + 生态服务</a:t>
            </a:r>
            <a:endParaRPr sz="15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415290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04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62100" y="41338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为什么能形成壁垒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67400" y="41910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标准化交付、成长数据、AI协同</a:t>
            </a:r>
            <a:endParaRPr sz="1500" b="0">
              <a:solidFill>
                <a:srgbClr val="47556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493395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05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49149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未来三到五年怎么打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67400" y="49720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从爆款产品到数据平台，再到生态开放</a:t>
            </a:r>
            <a:endParaRPr sz="15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开场判断</a:t>
            </a:r>
            <a:endParaRPr sz="1350" b="1">
              <a:solidFill>
                <a:srgbClr val="2563E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榜样教育的核心机会，不是做AI教育工具，而是重构家庭成长服务</a:t>
            </a:r>
            <a:endParaRPr sz="3525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课程只是入口，AI只是能力，真正长期值钱的是持续沉淀的家庭成长数据和可复购的陪伴体系。</a:t>
            </a:r>
            <a:endParaRPr sz="1800" b="0">
              <a:solidFill>
                <a:srgbClr val="47556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03</a:t>
            </a:r>
            <a:endParaRPr sz="11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传统教培逻辑正在失效，家庭教育需求正在换挡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家长不只要提分，更要解决关系、习惯、动力和长期成长。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04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学习焦虑</a:t>
            </a:r>
            <a:endParaRPr sz="1950" b="1">
              <a:solidFill>
                <a:srgbClr val="2563E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成绩压力仍在，但单纯补课越来越难解释长期价值。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从提分转向成长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关系焦虑</a:t>
            </a:r>
            <a:endParaRPr sz="1950" b="1">
              <a:solidFill>
                <a:srgbClr val="05966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亲子冲突、沟通失效、手机沉迷成为家庭高频痛点。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从课堂转向家庭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陪伴缺口</a:t>
            </a:r>
            <a:endParaRPr sz="1950" b="1">
              <a:solidFill>
                <a:srgbClr val="D9770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家长需要每天可执行、可反馈、可坚持的成长方案。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从课程转向陪伴</a:t>
            </a:r>
            <a:endParaRPr sz="13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核心判断</a:t>
            </a:r>
            <a:endParaRPr sz="1350" b="1">
              <a:solidFill>
                <a:srgbClr val="2563E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用户真正购买的不是AI，而是孩子改变和家庭关系改善的确定性</a:t>
            </a:r>
            <a:endParaRPr sz="3525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如果没有行为改变，AI越强也只是工具；如果能持续记录改变，AI才会变成产品壁垒。</a:t>
            </a:r>
            <a:endParaRPr sz="1800" b="0">
              <a:solidFill>
                <a:srgbClr val="47556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05</a:t>
            </a:r>
            <a:endParaRPr sz="11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正确战略顺序：先有产品闭环，再长成平台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平台不是第一天设计出来的，而是从高留存产品和高质量数据中长出来的。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06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课程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入口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行为改变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价值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成长记录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数据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AI陪伴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续费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数据库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壁垒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平台生态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放大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  <a:endParaRPr sz="180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公司定位要从教育公司升级为家庭成长数据科技公司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这一定义决定产品、组织、融资故事和长期估值方式。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07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不是</a:t>
            </a:r>
            <a:endParaRPr sz="1950" b="1">
              <a:solidFill>
                <a:srgbClr val="DC262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不是传统课程公司，不靠老师个人能力无限扩张。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摆脱人效天花板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也不是</a:t>
            </a:r>
            <a:endParaRPr sz="1950" b="1">
              <a:solidFill>
                <a:srgbClr val="D9770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不是AI聊天工具公司，不把大模型包装成唯一卖点。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避免技术同质化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而是</a:t>
            </a:r>
            <a:endParaRPr sz="1950" b="1">
              <a:solidFill>
                <a:srgbClr val="0596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家庭成长产品、数据和AI协同的平台公司。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形成长期复利</a:t>
            </a:r>
            <a:endParaRPr sz="13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商业闭环必须从一次性课程收入升级为复合收入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收入结构决定公司估值：一次性课程看现金流，订阅和数据生态看平台价值。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08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层级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产品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价格带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战略作用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入口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体验课 / 训练营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99-399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获客与筛选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核心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深度课程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1999-9999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行为改变与信任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订阅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AI成长助手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999-2999/年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长期陪伴与续费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成长档案 / 报告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会员权益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沉淀家庭画像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生态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研学 / 咨询 / 规划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高客单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拓展家庭生命周期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用户路径要从流量漏斗升级为成长旅程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每一步都要有明确的用户任务、产品承接和数据沉淀。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09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内容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触达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直播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信任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体验课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转化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训练营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改变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AI陪伴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留存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会员生态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复购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  <a:endParaRPr sz="180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增长飞轮要围绕家庭成长结果，而不是围绕流量投放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裂变来自可见改变；订阅来自持续陪伴；壁垒来自数据越用越准。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10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086350" y="17716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200650" y="19335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用户进入</a:t>
            </a:r>
            <a:endParaRPr sz="1500" b="1">
              <a:solidFill>
                <a:srgbClr val="2563E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067550" y="25717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181850" y="27336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课程学习</a:t>
            </a:r>
            <a:endParaRPr sz="1500" b="1">
              <a:solidFill>
                <a:srgbClr val="0EA5E9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67550" y="40005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181850" y="41624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行为改变</a:t>
            </a:r>
            <a:endParaRPr sz="1500" b="1">
              <a:solidFill>
                <a:srgbClr val="059669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086350" y="48387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200650" y="50006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成长数据</a:t>
            </a:r>
            <a:endParaRPr sz="1500" b="1">
              <a:solidFill>
                <a:srgbClr val="D97706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05150" y="40005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19450" y="41624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AI更精准</a:t>
            </a:r>
            <a:endParaRPr sz="1500" b="1">
              <a:solidFill>
                <a:srgbClr val="0EA5E9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105150" y="25717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219450" y="27336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体验更好</a:t>
            </a:r>
            <a:endParaRPr sz="1500" b="1">
              <a:solidFill>
                <a:srgbClr val="05966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34150" y="21526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→</a:t>
            </a:r>
            <a:endParaRPr sz="2250" b="0">
              <a:solidFill>
                <a:srgbClr val="CBD5E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81900" y="33337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↓</a:t>
            </a:r>
            <a:endParaRPr sz="2250" b="0">
              <a:solidFill>
                <a:srgbClr val="CBD5E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34150" y="46291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←</a:t>
            </a:r>
            <a:endParaRPr sz="2250" b="0">
              <a:solidFill>
                <a:srgbClr val="CBD5E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638550" y="33337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↑</a:t>
            </a:r>
            <a:endParaRPr sz="2250" b="0">
              <a:solidFill>
                <a:srgbClr val="CBD5E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105400" y="34099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更多家庭进入</a:t>
            </a:r>
            <a:endParaRPr sz="16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产品矩阵要覆盖家长、孩子、家庭关系和AI陪伴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真正的平台不是单一课程，而是多角色、多场景、多周期产品组合。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11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产品线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目标用户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收入逻辑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家长成长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父母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教育认知与沟通方法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课程+会员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孩子成长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孩子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习惯、动力、表达、自驱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训练营+陪练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家庭关系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家庭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亲子沟通与共同任务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服务包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AI陪伴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全家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每日反馈与成长计划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年订阅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数据产品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家庭/机构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成长画像与报告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会员+合作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爆款产品要先解决一个高频、刚需、可见效问题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建议把第一阶段资源集中到“家长训练营 + AI陪练 + 成长报告”的组合。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12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高频痛点</a:t>
            </a:r>
            <a:endParaRPr sz="1950" b="1">
              <a:solidFill>
                <a:srgbClr val="2563E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亲子沟通、学习习惯、手机管理、自驱力不足。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容易获客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可见变化</a:t>
            </a:r>
            <a:endParaRPr sz="1950" b="1">
              <a:solidFill>
                <a:srgbClr val="05966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通过任务、打卡、反馈，让家长看到行为改变。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容易复购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可数据化</a:t>
            </a:r>
            <a:endParaRPr sz="1950" b="1">
              <a:solidFill>
                <a:srgbClr val="D9770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每次作业、反馈、关系变化都进入成长档案。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形成壁垒</a:t>
            </a:r>
            <a:endParaRPr sz="13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交付系统的目标：从依赖名师升级为复制型组织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课程、助教、运营、评估、复购都要被流程化和数据化。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13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课程SOP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内容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助教SOP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陪伴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运营SOP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触达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评估SOP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反馈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复购SOP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增长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质检SOP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稳定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  <a:endParaRPr sz="180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交付质量要用指标管理，不能只靠主观满意度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家庭教育的交付必须同时看学习完成、行为改变、关系改善和续费意愿。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14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模块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关键动作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衡量指标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负责人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课程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标准课件与任务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完课率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教研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助教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每日提醒与反馈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打卡率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评估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成长测评与报告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画像完整度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运营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社群陪伴与活动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活跃率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用户运营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复购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阶段成果展示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续费率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商业化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核心判断</a:t>
            </a:r>
            <a:endParaRPr sz="1350" b="1">
              <a:solidFill>
                <a:srgbClr val="2563E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AI应该放在交付闭环里，而不是放在品牌第一句里</a:t>
            </a:r>
            <a:endParaRPr sz="3525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AI最有价值的位置，是帮助家庭每天完成任务、获得反馈、形成记录，并让下一次方案更精准。</a:t>
            </a:r>
            <a:endParaRPr sz="1800" b="0">
              <a:solidFill>
                <a:srgbClr val="47556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15</a:t>
            </a:r>
            <a:endParaRPr sz="11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AI平台架构：知识库、画像、Agent与数据中台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技术架构要服务产品闭环，而不是堆技术名词。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16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知识库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内容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用户画像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理解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成长规划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方案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陪练执行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任务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督导反馈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预警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数据中台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学习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  <a:endParaRPr sz="180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AI Agent体系要按真实场景设计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每个Agent都必须绑定一个用户任务和一个可衡量结果。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17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服务对象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核心任务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输出物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家长顾问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父母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解释问题与建议话术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沟通方案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孩子陪练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孩子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任务提醒与行为鼓励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成长任务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助教助手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交付团队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批改、点评、预警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服务建议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成长规划师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家庭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阶段目标与路径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成长计划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经营助手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管理层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用户、收入、交付分析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经营看板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核心判断</a:t>
            </a:r>
            <a:endParaRPr sz="1350" b="1">
              <a:solidFill>
                <a:srgbClr val="2563E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真正的护城河是家庭成长数据库</a:t>
            </a:r>
            <a:endParaRPr sz="3525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当系统持续记录父母、孩子、家庭互动和改变路径，AI才会越用越懂家庭，产品才会越用越准。</a:t>
            </a:r>
            <a:endParaRPr sz="1800" b="0">
              <a:solidFill>
                <a:srgbClr val="47556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18</a:t>
            </a:r>
            <a:endParaRPr sz="11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数据资产不是口号，必须从第一天设计采集结构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没有结构化数据，AI只是客服；有高质量数据，AI才能成为成长操作系统。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19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父母画像</a:t>
            </a:r>
            <a:endParaRPr sz="1950" b="1">
              <a:solidFill>
                <a:srgbClr val="2563E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教育方式、沟通风格、焦虑点、参与度。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理解决策者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孩子画像</a:t>
            </a:r>
            <a:endParaRPr sz="1950" b="1">
              <a:solidFill>
                <a:srgbClr val="05966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习惯、兴趣、动力、行为变化、情绪状态。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理解成长对象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家庭画像</a:t>
            </a:r>
            <a:endParaRPr sz="1950" b="1">
              <a:solidFill>
                <a:srgbClr val="D9770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互动频率、冲突类型、任务完成、改善路径。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理解关系系统</a:t>
            </a:r>
            <a:endParaRPr sz="13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增长策略不能依赖高额投流，要靠内容、私域、交付和裂变联动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家庭教育的增长基础是信任，最强裂变来自真实改变被看见。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20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内容获客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认知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直播转化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信任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社群交付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陪伴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成果展示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复购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用户推荐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裂变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  <a:endParaRPr sz="2100" b="0">
              <a:solidFill>
                <a:srgbClr val="CBD5E1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会员沉淀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长期</a:t>
            </a:r>
            <a:endParaRPr sz="1125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  <a:endParaRPr sz="180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增长指标要从线索数量升级为用户质量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低质量流量会拖垮交付，高质量家庭样本才会推动数据和口碑复利。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21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关键指标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目标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管理重点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获客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有效线索率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30%+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内容精准度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转化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体验课转化率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15-25%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信任建立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交付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任务完成率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70%+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助教陪伴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复购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阶段续费率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30%+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成果呈现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裂变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转介绍占比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20%+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口碑机制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组织要围绕产品化、数据化和AI协同重建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如果组织仍按传统课程公司运转，战略会停在PPT里。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22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产品中心</a:t>
            </a:r>
            <a:endParaRPr sz="1950" b="1">
              <a:solidFill>
                <a:srgbClr val="2563E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负责用户路径、产品矩阵、体验和迭代。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定义价值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交付中心</a:t>
            </a:r>
            <a:endParaRPr sz="1950" b="1">
              <a:solidFill>
                <a:srgbClr val="05966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负责SOP、助教体系、质量和复购。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兑现价值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数据AI中心</a:t>
            </a:r>
            <a:endParaRPr sz="1950" b="1">
              <a:solidFill>
                <a:srgbClr val="D9770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负责画像、Agent、数据中台和智能化。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放大价值</a:t>
            </a:r>
            <a:endParaRPr sz="13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未来一年招聘优先级：先补产品、交付、数据三类关键人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团队不是越大越好，关键是补齐把战略落成系统的岗位。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23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优先级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岗位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为什么重要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阶段产出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P0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产品负责人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把课程变成产品矩阵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产品路线图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P0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交付负责人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把服务变成SOP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交付标准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P1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数据产品经理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把行为变成资产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画像体系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P1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AI应用负责人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把模型接入场景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Agent原型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P2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增长负责人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把内容变成转化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增长飞轮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财务模型的关键不是收入规模，而是收入结构升级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只有会员、订阅和生态收入占比提升，公司才会从课程估值走向平台估值。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24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收入目标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主收入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结构目标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验证期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1000万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训练营/课程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证明需求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复制期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1亿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课程+会员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复购成立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平台期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10亿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订阅+生态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数据复利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生态期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100亿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平台服务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多场景扩张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董事会只需要盯住这组指标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战略是否成立，不看概念词，看用户、收入、数据和组织是否同步变强。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25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维度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核心指标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阶段目标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判断意义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用户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有效家庭数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10万 -&gt; 100万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验证市场广度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产品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完课率 / 复购率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70% / 30%+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验证真实价值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商业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会员与订阅占比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30% -&gt; 60%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验证收入质量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画像完整度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60% -&gt; 85%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验证AI壁垒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组织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SOP覆盖率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80%+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验证可复制性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融资故事要从技术概念改为经营确定性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投资人真正关心的是市场、增长、留存、毛利、数据壁垒和组织能力。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26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市场</a:t>
            </a:r>
            <a:endParaRPr sz="1950" b="1">
              <a:solidFill>
                <a:srgbClr val="2563E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家庭教育从课程消费转向长期成长服务。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空间足够大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模式</a:t>
            </a:r>
            <a:endParaRPr sz="1950" b="1">
              <a:solidFill>
                <a:srgbClr val="05966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课程现金流 + 会员订阅 + AI陪伴 + 生态服务。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收入可复合</a:t>
            </a:r>
            <a:endParaRPr sz="1350" b="1">
              <a:solidFill>
                <a:srgbClr val="11182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壁垒</a:t>
            </a:r>
            <a:endParaRPr sz="1950" b="1">
              <a:solidFill>
                <a:srgbClr val="D9770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交付体系、家庭成长数据、AI持续优化。</a:t>
            </a:r>
            <a:endParaRPr sz="1425" b="0">
              <a:solidFill>
                <a:srgbClr val="47556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长期可防守</a:t>
            </a:r>
            <a:endParaRPr sz="13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三年路线图：先做出确定性，再追求平台化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每一年只打一场主仗，避免战略同时摊太开。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27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000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2026-2027</a:t>
            </a:r>
            <a:endParaRPr sz="2100" b="1">
              <a:solidFill>
                <a:srgbClr val="2563E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533650"/>
            <a:ext cx="247650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8956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产品验证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5052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爆款课程 + 标准化交付 + 10万家庭样本</a:t>
            </a:r>
            <a:endParaRPr sz="1575" b="0">
              <a:solidFill>
                <a:srgbClr val="475569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33900" y="2000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2027-2028</a:t>
            </a:r>
            <a:endParaRPr sz="2100" b="1">
              <a:solidFill>
                <a:srgbClr val="2563E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2533650"/>
            <a:ext cx="2476500" cy="3810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28956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规模复制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33900" y="35052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AI成长助手 + 会员订阅 + 100万家庭数据库</a:t>
            </a:r>
            <a:endParaRPr sz="1575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53400" y="2000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2028-2029</a:t>
            </a:r>
            <a:endParaRPr sz="2100" b="1">
              <a:solidFill>
                <a:srgbClr val="2563E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53400" y="2533650"/>
            <a:ext cx="2476500" cy="381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53400" y="28956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平台生态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53400" y="35052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开放Agent + 生态服务 + 多场景家庭成长平台</a:t>
            </a:r>
            <a:endParaRPr sz="1575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第一年只做五件事</a:t>
            </a:r>
            <a:endParaRPr sz="2625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压缩战略动作，确保资源集中在最能验证商业闭环的事情上。</a:t>
            </a:r>
            <a:endParaRPr sz="1275" b="0">
              <a:solidFill>
                <a:srgbClr val="47556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28</a:t>
            </a:r>
            <a:endParaRPr sz="112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事项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目标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负责人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验收标准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爆款产品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家长训练营标准化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产品中心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转化与完课达标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交付SOP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助教与评估流程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交付中心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满意度与续费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AI助手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每日陪伴与报告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AI中心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活跃与留存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数据体系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成长画像与标签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数据中心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画像完整度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增长飞轮</a:t>
            </a:r>
            <a:endParaRPr sz="120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内容+私域+裂变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增长中心</a:t>
            </a:r>
            <a:endParaRPr sz="1200" b="0">
              <a:solidFill>
                <a:srgbClr val="4755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CAC下降</a:t>
            </a:r>
            <a:endParaRPr sz="1200"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结论</a:t>
            </a:r>
            <a:endParaRPr sz="1350" b="1">
              <a:solidFill>
                <a:srgbClr val="2563E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最终共识：先把产品和交付做到极致，再让AI放大价值</a:t>
            </a:r>
            <a:endParaRPr sz="3525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不要让AI代替产品，也不要让平台代替经营。真正的路径是产品标准化、数据资产化、AI协同化、生态平台化。</a:t>
            </a:r>
            <a:endParaRPr sz="1800" b="0">
              <a:solidFill>
                <a:srgbClr val="47556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29</a:t>
            </a:r>
            <a:endParaRPr sz="11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876300"/>
            <a:ext cx="533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下一步建议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7335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用这套30页汇报版统一核心团队共识；随后拆成产品体系设计、AI平台PRD、融资BP和组织管理手册。</a:t>
            </a:r>
            <a:endParaRPr sz="2025" b="0">
              <a:solidFill>
                <a:srgbClr val="CBD5E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028950"/>
            <a:ext cx="8382000" cy="1905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3524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本阶段最重要的不是继续扩写材料，而是启动产品验证和交付标准化。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58500" y="61912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30</a:t>
            </a:r>
            <a:endParaRPr sz="1200" b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4302</Words>
  <Application>WPS 演示</Application>
  <PresentationFormat>Converted Presentation</PresentationFormat>
  <Paragraphs>1034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yanshaoyin</cp:lastModifiedBy>
  <cp:revision>1</cp:revision>
  <dcterms:created xsi:type="dcterms:W3CDTF">2026-07-11T09:30:21Z</dcterms:created>
  <dcterms:modified xsi:type="dcterms:W3CDTF">2026-07-11T09:30:21Z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26AC2BF53B4402032D0D526AB311180D_43</vt:lpwstr>
  </property>
  <property fmtid="{D5CDD505-2E9C-101B-9397-08002B2CF9AE}" pid="3" name="KSOProductBuildVer">
    <vt:lpwstr>2052-12.1.23540.23540</vt:lpwstr>
  </property>
</Properties>
</file>