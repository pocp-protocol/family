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A7317"/>
                </a:solidFill>
                <a:latin typeface="Microsoft YaHei"/>
              </a:rPr>
              <a:t>SELFDRIVE_21D_V1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F2937"/>
                </a:solidFill>
                <a:latin typeface="Microsoft YaHei"/>
              </a:rPr>
              <a:t>21天家长训练营 · 自驱不能奖励也不能逼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Microsoft YaHei"/>
              </a:rPr>
              <a:t>内在动机来自自主、胜任、关系三种体验;家长要支持这三样,而不是用奖励贿赂或用压力逼迫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Microsoft YaHei"/>
              </a:rPr>
              <a:t>看见与连接(D1–7) · 家长先改变(D8–14) · 共创与稳定(D15–21)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对象:家长(父母先改变;孩子不是被改造对象)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7280"/>
                </a:solidFill>
                <a:latin typeface="Microsoft YaHei"/>
              </a:rPr>
              <a:t>阶段 1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EA7317"/>
                </a:solidFill>
                <a:latin typeface="Microsoft YaHei"/>
              </a:rPr>
              <a:t>看见与连接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icrosoft YaHei"/>
              </a:rPr>
              <a:t>D1–7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先看见自己在用奖励和条件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技能:家长自我觉察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家长常用“做到就给”驱动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记录今天你用了几次“你做到X就给你Y”。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““我发现我总是用奖励来推你。””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你靠外部条件驱动的频率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先看见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doi:10.2307/1170677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SELFDRIVE_21D_V1    Day 1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2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分清内在动机与外部压力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技能:区分动机来源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分清哪些是他自己想做的、哪些是被推着做的。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观察并记下一件孩子是“自己想做”的事。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““那件你自己主动去做的事”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孩子自发投入的时刻。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观察非评判。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doi:10.2307/1170677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SELFDRIVE_21D_V1    Day 2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3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看见控制式语言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技能:识别控制式养育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“必须/否则”这类控制语言削弱自主与动机。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记一句今天你说的控制式的话。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““刚才我说得有点硬”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控制式语言后孩子的反应。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识别非自责。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依据:E4 doi:10.1080/15295192.2017.1337461 ; E6 doi:10.1017/S0954579414000169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SELFDRIVE_21D_V1    Day 3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4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先连接关系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技能:关系优先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关系(relatedness)是内在动机的土壤;先关心人再问事。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今天先关心孩子这个人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““今天过得怎么样？我先不问作业。””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先连接后他是否更愿意投入。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关心不是套近乎。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doi:10.32920/26052868 ; E2 doi:10.1037/h0045357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SELFDRIVE_21D_V1    Day 4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5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少一点条件奖励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技能:减少外部奖励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过度物质奖励会把“我想做”变成“为奖励做”。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今天挑一件事不挂钩任何奖励。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““这件事不为奖励”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去掉奖励后他还愿不愿做。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减少奖励不是取消鼓励。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doi:10.2307/1170677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SELFDRIVE_21D_V1    Day 5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6   ·   看见与连接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家长示范为兴趣做事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EA7317"/>
                </a:solidFill>
                <a:latin typeface="Microsoft YaHei"/>
              </a:rPr>
              <a:t>技能:家长示范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孩子从看见家长“因喜欢而投入”里学会内在驱动。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让孩子看到你投入做一件你自己享受的事。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““这件事我就是喜欢做”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家长示范后的感染。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示范不是表演。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依据:practitioner · 证据待验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SELFDRIVE_21D_V1    Day 6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7   ·   看见与连接 · 复盘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第一周小复盘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看见“我少逼少奖、多支持”的时刻。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1051560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761488"/>
            <a:ext cx="1018641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回看一件事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记一次你没有用奖励或逼迫、而是支持了自主。
可以说:““这周我在学着少逼、少用奖励。””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复盘非考核。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SELFDRIVE_21D_V1    Day 7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7280"/>
                </a:solidFill>
                <a:latin typeface="Microsoft YaHei"/>
              </a:rPr>
              <a:t>阶段 2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2563EB"/>
                </a:solidFill>
                <a:latin typeface="Microsoft YaHei"/>
              </a:rPr>
              <a:t>家长先改变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icrosoft YaHei"/>
              </a:rPr>
              <a:t>D8–14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8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支持自主:给理由而非命令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技能:自主支持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讲清“为什么”比“必须做”更能激发内在认同。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今天提一个要求时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““我希望你这样做”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给理由后他是否更接受。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给理由不是说教。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依据:E4 doi:10.3389/fpsyg.2023.1156807 ; E7 doi:10.1016/j.cpr.2014.04.003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SELFDRIVE_21D_V1    Day 8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9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支持自主:给选择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技能:有限选择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有选择带来掌控感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就一件事给孩子两个都可接受的选择。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““这两种方式”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有选择后投入度的变化。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选项都要你能接受。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doi:10.1016/j.cpr.2014.04.003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SELFDRIVE_21D_V1    Day 9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10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支持胜任:体验“我能行”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技能:胜任支持(跳一跳够得着)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胜任感来自“稍努力就能做到”的小成功。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安排一个跳一跳够得着的小挑战。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““这个有点难度”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完成小挑战后的表情/劲头。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难度要合适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doi:10.2307/1170677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SELFDRIVE_21D_V1    Day 10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11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支持胜任:肯定进步而非结果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技能:具体肯定过程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肯定努力与进步比只看结果更养内在动机。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指出一个具体的进步(哪怕很小)。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““你今天比昨天多坚持了一会儿”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被肯定进步后是否更愿继续。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肯定进步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doi:10.32920/26052868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SELFDRIVE_21D_V1    Day 11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12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支持关系:无条件的关注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技能:关系支持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让孩子知道“不管做得好不好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今天有一次关注与他的表现无关。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““不管成绩怎样”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无条件关注后关系的松动。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无条件关注不等于没有边界。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依据:E2 doi:10.1037/h0045357 ; E7 doi:10.32920/26052868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SELFDRIVE_21D_V1    Day 12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13   ·   家长先改变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把“要我学”变“我要学”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技能:引导内在理由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帮孩子找到事情对他自己的意义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帮孩子说出一件事对他自己的一个意义。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““这件事对你自己来说”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他能否说出自己的理由。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意义由他找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依据:E4 doi:10.3389/fpsyg.2023.1156807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SELFDRIVE_21D_V1    Day 13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14   ·   家长先改变 · 复盘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第二周小复盘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家长先改变的证据在自己身上。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1051560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761488"/>
            <a:ext cx="1018641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回看一件事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记一个你用支持替代了逼迫或奖励的时刻。
可以说:““我在学着支持你”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完课≠改变。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SELFDRIVE_21D_V1    Day 14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32004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6B7280"/>
                </a:solidFill>
                <a:latin typeface="Microsoft YaHei"/>
              </a:rPr>
              <a:t>阶段 3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600" b="1">
                <a:solidFill>
                  <a:srgbClr val="0F766E"/>
                </a:solidFill>
                <a:latin typeface="Microsoft YaHei"/>
              </a:rPr>
              <a:t>共创与稳定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6B7280"/>
                </a:solidFill>
                <a:latin typeface="Microsoft YaHei"/>
              </a:rPr>
              <a:t>D15–21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15   ·   共创与稳定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共定一个他自己想达成的目标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技能:共创(自主)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自己定的目标比被派的目标更有驱动力。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和孩子一起定一个他自己想达成的小目标。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““你自己最想做成的一件小事是什么？””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自定目标 vs 被派目标的投入差别。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目标由他主导。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doi:10.1016/j.cpr.2014.04.003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SELFDRIVE_21D_V1    Day 15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16   ·   共创与稳定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逐步交还选择权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技能:渐进自主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逐步交还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把一个原本你决定的小事交给他决定。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““这个你来决定”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被信任后的责任感。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渐进交还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依据:E4 doi:10.3389/fpsyg.2023.1156807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SELFDRIVE_21D_V1    Day 16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17   ·   共创与稳定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用鼓励代替奖励贿赂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技能:鼓励(非贿赂)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鼓励聚焦努力与意义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把一次“做到就给”换成一句真诚鼓励。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““我看到你为这件事下的功夫。””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鼓励 vs 物质奖励后的持续性。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不用奖励交换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依据:E6 doi:10.2307/1170677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SELFDRIVE_21D_V1    Day 17 /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18   ·   共创与稳定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挫败时保护动机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技能:处理退步(不否定努力)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挫败时先护住“我还愿意试”比责备更重要。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孩子受挫时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““没做成没关系”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受挫后是否还愿再试。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保护动机不等于没有要求。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依据:E7 doi:10.1016/j.adolescence.2015.04.005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SELFDRIVE_21D_V1    Day 18 / 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19   ·   共创与稳定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建立自己决定自己负责的小仪式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技能:自我负责仪式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稳定的小仪式让自主与责任可持续。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约定一个“他自己安排、自己复盘”的小仪式。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““今天你自己安排”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仪式坚持后的自我负责。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仪式贵在小而持续。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依据:practitioner · 证据待验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SELFDRIVE_21D_V1    Day 19 / 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20   ·   共创与稳定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迁移到别的领域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Microsoft YaHei"/>
              </a:rPr>
              <a:t>技能:泛化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Microsoft YaHei"/>
              </a:rPr>
              <a:t>把“支持自主”用到另一个领域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5212080" cy="1554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73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今日一件小事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把支持自主的做法用到另一件事上。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743200"/>
            <a:ext cx="5212080" cy="1554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85292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今晚可以说的话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““这个办法挺好”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434840"/>
            <a:ext cx="5212080" cy="1554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观察什么(过程,非评分)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同法在新领域是否也管用。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434840"/>
            <a:ext cx="5212080" cy="1554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4544568"/>
            <a:ext cx="4882896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边界 / 提醒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迁移是尝试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Microsoft YaHei"/>
              </a:rPr>
              <a:t>依据:practitioner · 证据待验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SELFDRIVE_21D_V1    Day 20 / 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6B7280"/>
                </a:solidFill>
                <a:latin typeface="Microsoft YaHei"/>
              </a:rPr>
              <a:t>Day 21   ·   共创与稳定 · 结营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Microsoft YaHei"/>
              </a:rPr>
              <a:t>综合复盘与下一步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Microsoft YaHei"/>
              </a:rPr>
              <a:t>看见 21 天里“我从推到支持”的过程改变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651760"/>
            <a:ext cx="1051560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761488"/>
            <a:ext cx="1018641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Microsoft YaHei"/>
              </a:rPr>
              <a:t>回看一件事</a:t>
            </a:r>
          </a:p>
          <a:p>
            <a:r>
              <a:rPr sz="1400">
                <a:solidFill>
                  <a:srgbClr val="1F2937"/>
                </a:solidFill>
                <a:latin typeface="Microsoft YaHei"/>
              </a:rPr>
              <a:t>回看 21 天
可以说:““这 21 天我最想继续做的是……你觉得呢？””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Microsoft YaHei"/>
              </a:rPr>
              <a:t>综合复盘非考核;不承诺提分。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8C0CC"/>
                </a:solidFill>
                <a:latin typeface="Microsoft YaHei"/>
              </a:rPr>
              <a:t>SELFDRIVE_21D_V1    Day 21 / 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286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Microsoft YaHei"/>
              </a:rPr>
              <a:t>循证依据(crossref 已核验)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E6 · doi:10.2307/1170677 — 奖励/强化与内在动机 meta(1994;过度外部奖励可削弱内在动机)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E4 · doi:10.1080/15295192.2017.1337461 — 父母自主支持vs控制行为分析(2018;相关性)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E4 · doi:10.3389/fpsyg.2023.1156807 — 自主支持养育实践(2023;相关性)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E7 · doi:10.1016/j.cpr.2014.04.003 — Triple P meta(自主支持/有限选择)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E7 · doi:10.32920/26052868 — 情绪调节·家长 meta(关系/具体肯定)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E7 · doi:10.1016/j.adolescence.2015.04.005 — 情绪教练 RCT(挫败/关系)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E6 · doi:10.1017/S0954579414000169 — 强制家庭过程(控制式反效果;早童样本)</a:t>
            </a:r>
          </a:p>
          <a:p>
            <a:pPr algn="l"/>
            <a:r>
              <a:rPr sz="1400" b="0">
                <a:solidFill>
                  <a:srgbClr val="1F2937"/>
                </a:solidFill>
                <a:latin typeface="Microsoft YaHei"/>
              </a:rPr>
              <a:t>E2 · doi:10.1037/h0045357 — 无条件积极关注(关系;理论背景)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A7317"/>
                </a:solidFill>
                <a:latin typeface="Microsoft YaHei"/>
              </a:rPr>
              <a:t>红线:父母先改变 · 不承诺提分 · 不比较排名 · 不贴标签 · 不靠贿赂或威胁 · 打卡不等于结果 · 完课不等于改变 · 观察不等于事实 · 危机转人工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