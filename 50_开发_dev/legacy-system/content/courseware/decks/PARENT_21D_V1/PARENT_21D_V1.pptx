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7317"/>
                </a:solidFill>
                <a:latin typeface="Microsoft YaHei"/>
              </a:rPr>
              <a:t>PARENT_21D_V1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F2937"/>
                </a:solidFill>
                <a:latin typeface="Microsoft YaHei"/>
              </a:rPr>
              <a:t>21天家长训练营 · 先连接再纠正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Microsoft YaHei"/>
              </a:rPr>
              <a:t>先连接/接住情绪,再纠正/解决;家长先练自己能改变的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Microsoft YaHei"/>
              </a:rPr>
              <a:t>看见与连接(D1–7) · 家长先改变(D8–14) · 共创与稳定(D15–21)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对象:家长(父母先改变;孩子不是被改造对象)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Microsoft YaHei"/>
              </a:rPr>
              <a:t>阶段 1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EA7317"/>
                </a:solidFill>
                <a:latin typeface="Microsoft YaHei"/>
              </a:rPr>
              <a:t>看见与连接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D1–7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先看见自己的第一反应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技能:家长自我觉察(情绪教练第一步:先觉察情绪)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连接的前提是家长先不被自己的第一反应带走;情绪教练从"觉察情绪"开始。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今天和孩子有摩擦时,先在心里说一句"我现在有点急",不马上开口。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“我今天注意到自己有点着急,想先听听你怎么想的。”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你自己的身体信号(皱眉/提高音量),不是给孩子贴标签。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这是觉察练习,不是评判;若涉及安全风险,转人工/求助。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doi:10.1016/j.adolescence.2015.04.005 ; E7 doi:10.32920/26052868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PARENT_21D_V1    Day 1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2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开口前的三秒暂停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技能:家长情绪调节(暂停/降速)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一个短暂停能打断"施压→对抗"的升级链条。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想批评前,先深呼吸数三秒再说第一句话。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“等我一下,我想想怎么说更清楚。”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暂停后对话是否更容易继续(过程观察,非打分)。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暂停≠冷战;不是压抑,是给自己空间。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doi:10.1017/S0954579414000169 ; E6 doi:10.1016/j.jadohealth.2017.11.067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PARENT_21D_V1    Day 2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3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接住情绪,而非先评判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技能:情绪确认(validate)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孩子先感到情绪被接住,才更能听进后面的话。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把"你怎么又这样"换成"你看起来挺不开心的"。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“看得出来这件事让你挺烦的。”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说完之后孩子是更愿意说,还是更退缩。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接住情绪不等于认同所有行为;安全边界仍在。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doi:10.1016/j.adolescence.2015.04.005 ; E7 doi:10.32920/26052868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PARENT_21D_V1    Day 3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4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先复述一句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技能:反映式/主动倾听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复述让对方感到"被听见"(felt-listening),降低防御。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回应前,先用自己的话复述一遍孩子在意的点。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“你的意思是……我理解得对吗?”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复述后孩子有没有点头/补充("对,而且……")。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复述是理解,不是审问;不追加评价。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依据:E2 doi:10.1037/h0045357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PARENT_21D_V1    Day 4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5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少用"但是"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技能:降低防御(打断强制循环)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以“但是”抵消前半句连接;换成“我看到…”更少触发对抗。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今天刻意不用"但是",改用"我看到…我有点担心…"。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“我看到你很努力了,我也有点担心时间,我们一起看看?”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去掉"但是"后,冲突是否少一点。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不是不能表达担心,是换个不激化的说法。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doi:10.1017/S0954579414000169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PARENT_21D_V1    Day 5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6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用好奇代替追问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技能:开放式提问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开放问题邀请孩子表达,封闭追问容易变审讯。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把"为什么没做完"换成"今天卡在哪一步了?"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“如果重来一次,你想怎么安排?”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孩子回答的长度和主动性(过程,非对错)。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好奇是了解,不是设套;不诱导认错。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依据:E2 doi:10.1037/h0045357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PARENT_21D_V1    Day 6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7   ·   看见与连接 · 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第一周小复盘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复盘看的是"哪次先连接让对话能继续",不是打分排名。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05156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761488"/>
            <a:ext cx="1018641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回看一件事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回想这一周,记下一次"我先接住了情绪"的时刻。
可以说:“这周我想谢谢你愿意跟我说话。”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复盘≠成绩单;完课不等于改变。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PARENT_21D_V1    Day 7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Microsoft YaHei"/>
              </a:rPr>
              <a:t>阶段 2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2563EB"/>
                </a:solidFill>
                <a:latin typeface="Microsoft YaHei"/>
              </a:rPr>
              <a:t>家长先改变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D8–14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8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帮情绪起个名字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技能:情绪命名(labeling)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命名情绪帮助调节;是情绪教练核心一环。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猜一猜孩子的情绪并说出来:"你是不是有点失望?"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“这种感觉是不是有点像……失望/委屈?”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命名对了时孩子的反应(常会松一口气)。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是帮命名不是替他定义;猜错就问。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doi:10.1016/j.adolescence.2015.04.005 ; E7 doi:10.32920/26052868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PARENT_21D_V1    Day 8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9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示范如何平复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技能:共同调节(co-regulation)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家长先示范平复,孩子从中学会调节。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情绪上来时,出声示范:"我先喝口水冷静一下。"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“我刚才也有点冲,我们都缓一下再聊。”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你平复的方式孩子是否开始模仿。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示范真实的平复,不是表演完美。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doi:10.32920/26052868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PARENT_21D_V1    Day 9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10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给有限选择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技能:自主支持(autonomy support)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有限选择既给自主感又守住边界,减少权力对抗。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把命令换成两个都可接受的选择让孩子选。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“你想先写数学还是先写语文?你来定。”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给了选择后配合度的变化。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选择在你能接受的范围内;不是放任。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doi:10.1017/S0954579414000169 ; E7 doi:10.1016/j.cpr.2014.04.003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PARENT_21D_V1    Day 10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11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把"应该"换成"这个阶段可以先"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技能:期待校准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过高即时期待易生焦虑与冲突;分阶段更可达成。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挑一个你常说"应该"的点,改成一个更小的当下目标。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“这周我们先做到……就很好。”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目标变小后,完成与情绪是否更好。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校准期待≠降低关心;不制造"别人家孩子"的比较焦虑。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依据:practitioner · 证据待验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PARENT_21D_V1    Day 11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12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温和而坚定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技能:边界与温度并存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清晰一致的边界 + 温暖关系,比严厉或放任都更有效。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选一个小边界,温和地说明并坚定守住一次。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“我知道你还想玩,约定的时间到了,明天继续。”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温和坚定 vs 发火,哪个孩子更配合。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坚定不是强硬;守边界不靠吼。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doi:10.1017/S0954579414000169 ; E7 doi:10.5093/pi2022a2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PARENT_21D_V1    Day 12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13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说到做到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技能:一致性(consistency)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一致性让边界可预期,减少试探与拉锯。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守住一个昨天说过的小约定,不临时改。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“昨天我们说好的,今天照做,谢谢你配合。”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一致之后拉锯是否减少。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一致≠死板;确需调整时先说明。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doi:10.1017/S0954579414000169 ; E7 doi:10.5093/pi2022a2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PARENT_21D_V1    Day 13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14   ·   家长先改变 · 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第二周小复盘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看"我这周改变了哪个自己的小习惯",而非孩子变了多少。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05156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761488"/>
            <a:ext cx="1018641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回看一件事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记下一个你自己坚持了的新习惯。
可以说:“我在学着改变自己,也谢谢你陪我一起。”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打卡≠结果;别把复盘变成考核。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PARENT_21D_V1    Day 14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Microsoft YaHei"/>
              </a:rPr>
              <a:t>阶段 3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0F766E"/>
                </a:solidFill>
                <a:latin typeface="Microsoft YaHei"/>
              </a:rPr>
              <a:t>共创与稳定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D15–21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15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邀请孩子共创一条规则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技能:共创(co-create)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孩子参与制定的规则更愿意遵守(自主+归属)。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就一件小事,和孩子一起定一条双方同意的规则。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“这件事我们一起定个都能接受的办法,好吗?”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共同制定 vs 单方规定,执行度差别。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共创不是甩锅给孩子;你仍是守护者。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doi:10.1017/S0954579414000169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PARENT_21D_V1    Day 15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16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做一次简单修复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技能:修复先于说教(repair)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没忍住之后,主动修复关系比继续讲道理更重要。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为上次没忍住的时刻,向孩子简单道个歉。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“上次我语气重了,对不起,我在学着改。”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修复后孩子是否更靠近你。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修复是真诚,不换取顺从;不反过来要求孩子先认错。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依据:E2 doi:10.1037/h0045357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PARENT_21D_V1    Day 16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17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具体地肯定一个小进步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技能:强化小赢(具体、非泛化)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具体肯定行为(而非贴"你真聪明"标签)更能巩固行为。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指出一个具体的小进步:"你今天主动开始写作业了。"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“我注意到你今天……(具体行为),挺不容易。”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具体肯定后该行为是否更常出现。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肯定行为不贴人格标签;不比较、不制造表扬依赖。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doi:10.32920/26052868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PARENT_21D_V1    Day 17 /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18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迁移到新场景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技能:泛化(generalization)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把一个已见效的小动作用到另一个场景,巩固技能。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把本周一个有效的小做法,用到另一件事上。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“上次那个办法挺好用,这件事我们也试试?”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同一方法在新场景是否也管用。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迁移是尝试,不强求每次都成。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依据:practitioner · 证据待验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PARENT_21D_V1    Day 18 /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19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反复时不否定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技能:处理退步(不贴标签)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退步是常态;此时回到"先连接"比责备更有用。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孩子退步时,先接住情绪,不说"你又……"。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“有起伏很正常,我们从今天重新开始。”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不否定 vs 责备,恢复速度差别。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不否定≠没边界;红线仍守。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doi:10.1016/j.adolescence.2015.04.005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PARENT_21D_V1    Day 19 / 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20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建立一个每日连接小仪式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技能:可持续的连接仪式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稳定的小仪式让"连接"跨天持续,而非一次性。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和孩子约定一个每天 3 分钟的固定连接时刻(如睡前聊一句)。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“以后每天睡前,我们聊一件今天的小事,好不好?”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仪式坚持几天后关系的感觉。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仪式贵在小而持续,不追求形式。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依据:E2 doi:10.1037/h0045357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PARENT_21D_V1    Day 20 / 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21   ·   共创与稳定 · 结营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综合复盘与下一步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看见 21 天里"真实发生的过程改变"(非总分),选一件继续做,自然衔接 90 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05156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761488"/>
            <a:ext cx="1018641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回看一件事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回看 21 天,选一个你要继续保持的小习惯。
可以说:“这 21 天我最想继续做的是……你觉得呢?”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综合复盘不是结营考核;完课≠改变,改变靠继续做证明。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PARENT_21D_V1    Day 21 / 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Microsoft YaHei"/>
              </a:rPr>
              <a:t>循证依据(crossref 已核验)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E7 · doi:10.1016/j.adolescence.2015.04.005 — Tuning in to Teens 情绪教练 RCT(青少年,直接相关)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E7 · doi:10.32920/26052868 — Parenting Correlates of Children's Emotion Regulation 系统综述+meta(2024)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E6 · doi:10.1016/j.jadohealth.2017.11.067 — Parent-Teen Communication 家长干预(J Adolescent Health 2018;青少年沟通,直接相关)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E7 · doi:10.1016/j.cpr.2014.04.003 — Triple P 积极养育项目 系统综述+meta(Clinical Psychology Review 2014)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E7 · doi:10.5093/pi2022a2 — Incredible Years 家长/儿童项目 RCT(2021;家长管理训练)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E6 · doi:10.1007/s10578-012-0322-1 — Tuning into Kids 情绪教练干预(2012;幼童样本,青少年外推 MODERATE)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E6 · doi:10.1017/S0954579414000169 — 强制家庭过程(边界/一致性;早童样本,青少年外推 LIMITED)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E2 · doi:10.1037/h0045357 — 共情/主动倾听(1957 理论背景,非效果定论)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A7317"/>
                </a:solidFill>
                <a:latin typeface="Microsoft YaHei"/>
              </a:rPr>
              <a:t>红线:父母先改变 · 不贴标签 · 不制造焦虑 · 打卡不等于结果 · 完课不等于改变 · 观察不等于事实 · 危机转人工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