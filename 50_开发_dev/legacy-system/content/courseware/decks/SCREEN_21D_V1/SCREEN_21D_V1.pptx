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7317"/>
                </a:solidFill>
                <a:latin typeface="Microsoft YaHei"/>
              </a:rPr>
              <a:t>SCREEN_21D_V1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F2937"/>
                </a:solidFill>
                <a:latin typeface="Microsoft YaHei"/>
              </a:rPr>
              <a:t>21天家长训练营 · 手机不靠没收,靠一起定规则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Microsoft YaHei"/>
              </a:rPr>
              <a:t>先连接不先控制;家长先示范自己的手机习惯;把"没收"换成"一起定规则、逐步交还自主"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Microsoft YaHei"/>
              </a:rPr>
              <a:t>看见与连接(D1–7) · 家长先改变(D8–14) · 共创与稳定(D15–21)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对象:家长(父母先改变;孩子不是被改造对象)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B7280"/>
                </a:solidFill>
                <a:latin typeface="Microsoft YaHei"/>
              </a:rPr>
              <a:t>阶段 1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EA7317"/>
                </a:solidFill>
                <a:latin typeface="Microsoft YaHei"/>
              </a:rPr>
              <a:t>看见与连接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icrosoft YaHei"/>
              </a:rPr>
              <a:t>D1–7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   ·   看见与连接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先看见自己的手机习惯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技能:家长自我觉察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家长常低估自己的使用;改变从看见自己开始。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今天记录自己忍不住看手机的 3 个时刻。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“我发现我自己也总忍不住看手机。”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你自己的使用触发点(无聊/焦虑/习惯)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先看见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doi:10.1016/j.adolescence.2015.04.005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SCREEN_21D_V1    Day 1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2   ·   看见与连接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先了解孩子在手机上做什么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技能:用好奇代替指责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先理解用途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问一句孩子最近爱看/爱玩什么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“你最近在看的那个,能给我讲讲吗?”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孩子是否愿意讲、讲多少。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了解≠监视;不查记录、不偷看。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依据:E6 doi:10.1016/j.jadohealth.2017.11.067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SCREEN_21D_V1    Day 2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3   ·   看见与连接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先连接再谈规则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技能:情绪确认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情绪先被接住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谈手机前先聊件别的、接住情绪再开口。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“我知道让你放下手机不容易。”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谈话是否更少对抗。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连接不是套近乎的话术。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doi:10.1016/j.adolescence.2015.04.005 ; E7 doi:10.32920/26052868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SCREEN_21D_V1    Day 3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4   ·   看见与连接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把屏幕时间分类看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技能:区分而非一刀切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学习/社交/娱乐不同用途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和孩子一起把手机用途分成几类。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“不同的用法,我们可以分开看。”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孩子怎么给自己的使用分类。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不把所有屏幕都当敌人。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依据:practitioner · 证据待验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SCREEN_21D_V1    Day 4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5   ·   看见与连接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看见冲突点在哪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技能:识别强制循环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找到"催→对抗"的升级链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记下这周因手机起冲突的 1 个具体场景。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“刚才那次,我们俩都有点急。”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升级是从哪句话开始的。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观察非指责。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依据:E6 doi:10.1017/S0954579414000169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SCREEN_21D_V1    Day 5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6   ·   看见与连接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家长先示范一次放下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技能:家长示范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要求孩子的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吃饭时家长先把手机收起来。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“吃饭时我们都把手机放一边好吗?”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家长示范后餐桌氛围的变化。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先自己做到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doi:10.5093/pi2022a2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SCREEN_21D_V1    Day 6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7   ·   看见与连接 · 复盘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第一周小复盘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看见"我先连接而没先控制"的时刻。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1051560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761488"/>
            <a:ext cx="1018641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回看一件事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回想这一周
可以说:“这一周我在学着先听、先示范。”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复盘非考核。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SCREEN_21D_V1    Day 7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B7280"/>
                </a:solidFill>
                <a:latin typeface="Microsoft YaHei"/>
              </a:rPr>
              <a:t>阶段 2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2563EB"/>
                </a:solidFill>
                <a:latin typeface="Microsoft YaHei"/>
              </a:rPr>
              <a:t>家长先改变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icrosoft YaHei"/>
              </a:rPr>
              <a:t>D8–14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8   ·   家长先改变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从"没收"转"一起定"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技能:协商而非命令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共同定的规则执行度远高于单方规定。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提议和孩子一起定一个手机小约定。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“这个规则我们一起定,你觉得怎样合理?”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孩子的参与程度。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共定不是让孩子说了算;你仍是守护者。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依据:E6 doi:10.1017/S0954579414000169 ; E7 doi:10.1016/j.cpr.2014.04.003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SCREEN_21D_V1    Day 8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9   ·   家长先改变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给有限选择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技能:自主支持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有限选择支持自主、减少权力对抗。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就使用时段给两个都可接受的选项让孩子选。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“作业前还是作业后用 30 分钟,你选。”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有选择后是否更配合。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两个选项都要是你能接受的。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doi:10.1016/j.cpr.2014.04.003 ; E4 doi:10.1016/j.cdnut.2024.103264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SCREEN_21D_V1    Day 9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10   ·   家长先改变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温和而坚定守约定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技能:边界与温度并存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稳定的边界比一次严厉更有用。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约定到点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“时间到了,我们说好的。”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坚定但不吼时的效果。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坚定≠惩罚。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doi:10.5093/pi2022a2 ; E6 doi:10.1017/S0954579414000169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SCREEN_21D_V1    Day 10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11   ·   家长先改变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家长也守自己的约定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技能:一致性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家长守约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家长也守一条自己的手机约定一次。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“我也在守我们的约定。”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一致性对信任的影响。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双标会瓦解规则。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doi:10.5093/pi2022a2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SCREEN_21D_V1    Day 11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12   ·   家长先改变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关注内容而非只盯时长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技能:关注质量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陪看一次比只数分钟更能建立连接与判断。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和孩子一起看一次他喜欢的内容。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“陪你看看你喜欢的。”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共处而非监控带来的变化。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陪看不是审查。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依据:E4 doi:10.4172/2375-4494.1000124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SCREEN_21D_V1    Day 12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13   ·   家长先改变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做一张全家媒体计划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技能:家庭媒体计划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写下来、全家(含家长)都遵守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把约定写成一张全家媒体计划贴出来。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“我们做一张全家都遵守的计划。”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家长是否也在计划里。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计划针对全家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依据:E4 doi:10.4172/2375-4494.1000124 ; E4 doi:10.1016/j.cdnut.2024.103264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SCREEN_21D_V1    Day 13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14   ·   家长先改变 · 复盘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第二周小复盘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家长先改变的证据在自己身上。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1051560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761488"/>
            <a:ext cx="1018641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回看一件事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记下一个你自己坚持了的新手机习惯。
可以说:“我先改了自己的一个习惯。”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完课≠改变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SCREEN_21D_V1    Day 14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B7280"/>
                </a:solidFill>
                <a:latin typeface="Microsoft YaHei"/>
              </a:rPr>
              <a:t>阶段 3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0F766E"/>
                </a:solidFill>
                <a:latin typeface="Microsoft YaHei"/>
              </a:rPr>
              <a:t>共创与稳定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icrosoft YaHei"/>
              </a:rPr>
              <a:t>D15–21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15   ·   共创与稳定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共创一条规则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技能:共创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一起定的规则孩子更愿意守。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就一件事和孩子共定一条双方同意的规则。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“这条规则我们一起说了算。”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共定 vs 单方规定的执行度差别。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共创不是甩锅给孩子。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依据:E6 doi:10.1017/S0954579414000169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SCREEN_21D_V1    Day 15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16   ·   共创与稳定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逐步交还自主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技能:渐进自主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逐步交还小决定权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把一个小决定权交给孩子(如自己定周末时段)。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“这个你来决定,我信你。”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被信任后的表现。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交还是渐进的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doi:10.1016/j.cpr.2014.04.003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SCREEN_21D_V1    Day 16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17   ·   共创与稳定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具体肯定自我管理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技能:具体肯定(非贴标签)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肯定具体行为比夸"自觉"更能巩固。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指出一次他自己管好时间的具体行为。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“你今天自己到点就放下了,不容易。”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具体肯定后该行为是否更常见。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肯定行为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doi:10.32920/26052868 ; E7 doi:10.1016/j.cpr.2014.04.003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SCREEN_21D_V1    Day 17 /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18   ·   共创与稳定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反复时不否定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技能:处理退步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破例是常态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破例时先接住情绪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“有起伏很正常,我们从今天继续。”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不否定 vs 责备的恢复速度。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不否定≠没边界。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doi:10.1016/j.adolescence.2015.04.005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SCREEN_21D_V1    Day 18 / 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19   ·   共创与稳定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睡前不带手机的小仪式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技能:连接仪式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稳定的小仪式让规则可持续。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约定睡前手机放客厅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“睡前我们把手机放客厅,聊一句今天好吗?”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仪式坚持几天后的感觉。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仪式贵在小而持续。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依据:practitioner · 证据待验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SCREEN_21D_V1    Day 19 / 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20   ·   共创与稳定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迁移到其他场景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技能:泛化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把"一起定规则"用到别的事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把"一起定规则"用到另一件事(如作息)。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“上次那个办法挺好,这件事我们也一起定?”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同一方法在新场景是否也管用。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迁移是尝试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依据:practitioner · 证据待验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SCREEN_21D_V1    Day 20 / 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21   ·   共创与稳定 · 结营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综合复盘与下一步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看见 21 天的过程改变(非戒断结果)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1051560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761488"/>
            <a:ext cx="1018641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回看一件事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回看 21 天
可以说:“这 21 天我最想继续做的是……你觉得呢?”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综合复盘非结营考核;疑似成瘾/网络危险请转专业。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SCREEN_21D_V1    Day 21 / 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Microsoft YaHei"/>
              </a:rPr>
              <a:t>循证依据(crossref 已核验)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E4 · doi:10.1016/j.cdnut.2024.103264 — 家长屏幕监控·纵向关联(2024;非RCT,方向性证据)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E4 · doi:10.4172/2375-4494.1000124 — Screen Smart 家庭聚焦干预评估(2014;小样本/低层期刊)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E7 · doi:10.1016/j.cpr.2014.04.003 — Triple P meta(自主支持/有限选择机制)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E7 · doi:10.5093/pi2022a2 — Incredible Years RCT(边界/一致性机制)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E6 · doi:10.1017/S0954579414000169 — 强制家庭过程(打断'催→对抗';早童样本)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E6 · doi:10.1016/j.jadohealth.2017.11.067 — 亲子沟通家长干预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E7 · doi:10.1016/j.adolescence.2015.04.005 — 情绪教练 RCT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E7 · doi:10.32920/26052868 — 情绪调节·家长 meta(具体肯定机制)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A7317"/>
                </a:solidFill>
                <a:latin typeface="Microsoft YaHei"/>
              </a:rPr>
              <a:t>红线:父母先改变 · 不贴标签 · 不诊断手机成瘾 · 不制造焦虑 · 打卡不等于结果 · 完课不等于改变 · 观察不等于事实 · 不承诺戒手机 · 危机转专业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